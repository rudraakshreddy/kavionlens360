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Rows</c:v>
                </c:pt>
              </c:strCache>
            </c:strRef>
          </c:tx>
          <c:dPt>
            <c:idx val="0"/>
            <c:spPr>
              <a:solidFill>
                <a:srgbClr val="898781"/>
              </a:solidFill>
            </c:spPr>
          </c:dPt>
          <c:dPt>
            <c:idx val="1"/>
            <c:spPr>
              <a:solidFill>
                <a:srgbClr val="2A78D6"/>
              </a:solidFill>
            </c:spPr>
          </c:dPt>
          <c:dPt>
            <c:idx val="2"/>
            <c:spPr>
              <a:solidFill>
                <a:srgbClr val="1BAF7A"/>
              </a:solidFill>
            </c:spPr>
          </c:dPt>
          <c:cat>
            <c:strRef>
              <c:f>Sheet1!$A$2:$A$4</c:f>
              <c:strCache>
                <c:ptCount val="3"/>
                <c:pt idx="0">
                  <c:v>Raw rows</c:v>
                </c:pt>
                <c:pt idx="1">
                  <c:v>Clean rows</c:v>
                </c:pt>
                <c:pt idx="2">
                  <c:v>Customers</c:v>
                </c:pt>
              </c:strCache>
            </c:strRef>
          </c:cat>
          <c:val>
            <c:numRef>
              <c:f>Sheet1!$B$2:$B$4</c:f>
              <c:numCache>
                <c:formatCode>General</c:formatCode>
                <c:ptCount val="3"/>
                <c:pt idx="0">
                  <c:v>1048567</c:v>
                </c:pt>
                <c:pt idx="1">
                  <c:v>988947</c:v>
                </c:pt>
                <c:pt idx="2">
                  <c:v>841543.0</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a:solidFill>
                  <a:srgbClr val="52514E"/>
                </a:solidFill>
              </a:defRPr>
            </a:pPr>
          </a:p>
        </c:txPr>
        <c:crossAx val="-2113994440"/>
        <c:crosses val="autoZero"/>
        <c:auto val="1"/>
        <c:lblAlgn val="ctr"/>
        <c:lblOffset val="100"/>
        <c:noMultiLvlLbl val="0"/>
      </c:catAx>
      <c:valAx>
        <c:axId val="-2113994440"/>
        <c:scaling/>
        <c:delete/>
        <c:axPos val="b"/>
        <c:majorTickMark val="out"/>
        <c:minorTickMark val="none"/>
        <c:tickLblPos val="nextTo"/>
        <c:spPr>
          <a:ln>
            <a:noFill/>
          </a:ln>
        </c:spPr>
        <c:txPr>
          <a:bodyPr/>
          <a:lstStyle/>
          <a:p>
            <a:pPr>
              <a:defRPr>
                <a:solidFill>
                  <a:srgbClr val="898781"/>
                </a:solidFill>
              </a:defRPr>
            </a:pPr>
          </a:p>
        </c:txPr>
        <c:crossAx val="-2068027336"/>
        <c:crosses val="autoZero"/>
      </c:valAx>
    </c:plotArea>
    <c:dispBlanksAs val="gap"/>
  </c:chart>
  <c:txPr>
    <a:bodyPr/>
    <a:lstStyle/>
    <a:p>
      <a:pPr>
        <a:defRPr sz="1100">
          <a:solidFill>
            <a:srgbClr val="52514E"/>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t>Customers by age group</a:t>
            </a:r>
          </a:p>
        </c:rich>
      </c:tx>
      <c:layout/>
      <c:overlay val="0"/>
    </c:title>
    <c:autoTitleDeleted val="0"/>
    <c:plotArea>
      <c:barChart>
        <c:barDir val="col"/>
        <c:grouping val="clustered"/>
        <c:ser>
          <c:idx val="0"/>
          <c:order val="0"/>
          <c:tx>
            <c:strRef>
              <c:f>Sheet1!$B$1</c:f>
              <c:strCache>
                <c:ptCount val="1"/>
                <c:pt idx="0">
                  <c:v>Customers</c:v>
                </c:pt>
              </c:strCache>
            </c:strRef>
          </c:tx>
          <c:spPr>
            <a:solidFill>
              <a:srgbClr val="2A78D6"/>
            </a:solidFill>
          </c:spPr>
          <c:cat>
            <c:strRef>
              <c:f>Sheet1!$A$2:$A$7</c:f>
              <c:strCache>
                <c:ptCount val="6"/>
                <c:pt idx="0">
                  <c:v>18-24</c:v>
                </c:pt>
                <c:pt idx="1">
                  <c:v>25-34</c:v>
                </c:pt>
                <c:pt idx="2">
                  <c:v>35-44</c:v>
                </c:pt>
                <c:pt idx="3">
                  <c:v>45-54</c:v>
                </c:pt>
                <c:pt idx="4">
                  <c:v>55-64</c:v>
                </c:pt>
                <c:pt idx="5">
                  <c:v>65+</c:v>
                </c:pt>
              </c:strCache>
            </c:strRef>
          </c:cat>
          <c:val>
            <c:numRef>
              <c:f>Sheet1!$B$2:$B$7</c:f>
              <c:numCache>
                <c:formatCode>General</c:formatCode>
                <c:ptCount val="6"/>
                <c:pt idx="0">
                  <c:v>176540</c:v>
                </c:pt>
                <c:pt idx="1">
                  <c:v>431404</c:v>
                </c:pt>
                <c:pt idx="2">
                  <c:v>131824</c:v>
                </c:pt>
                <c:pt idx="3">
                  <c:v>38377</c:v>
                </c:pt>
                <c:pt idx="4">
                  <c:v>14201</c:v>
                </c:pt>
                <c:pt idx="5">
                  <c:v>6376</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E1E0D9"/>
            </a:solidFill>
          </a:ln>
        </c:spPr>
        <c:txPr>
          <a:bodyPr/>
          <a:lstStyle/>
          <a:p>
            <a:pPr>
              <a:defRPr>
                <a:solidFill>
                  <a:srgbClr val="52514E"/>
                </a:solidFill>
              </a:defRPr>
            </a:pPr>
          </a:p>
        </c:txPr>
        <c:crossAx val="-2113994440"/>
        <c:crosses val="autoZero"/>
        <c:auto val="1"/>
        <c:lblAlgn val="ctr"/>
        <c:lblOffset val="100"/>
        <c:noMultiLvlLbl val="0"/>
      </c:catAx>
      <c:valAx>
        <c:axId val="-2113994440"/>
        <c:scaling/>
        <c:delete val="0"/>
        <c:axPos val="l"/>
        <c:majorGridlines>
          <c:spPr>
            <a:ln>
              <a:solidFill>
                <a:srgbClr val="E1E0D9"/>
              </a:solidFill>
            </a:ln>
          </c:spPr>
        </c:majorGridlines>
        <c:numFmt formatCode="#,##0,&quot;K&quot;" sourceLinked="0"/>
        <c:majorTickMark val="out"/>
        <c:minorTickMark val="none"/>
        <c:tickLblPos val="nextTo"/>
        <c:spPr>
          <a:ln>
            <a:noFill/>
          </a:ln>
        </c:spPr>
        <c:txPr>
          <a:bodyPr/>
          <a:lstStyle/>
          <a:p>
            <a:pPr>
              <a:defRPr>
                <a:solidFill>
                  <a:srgbClr val="898781"/>
                </a:solidFill>
              </a:defRPr>
            </a:pPr>
          </a:p>
        </c:txPr>
        <c:crossAx val="-2068027336"/>
        <c:crosses val="autoZero"/>
      </c:valAx>
    </c:plotArea>
    <c:dispBlanksAs val="gap"/>
  </c:chart>
  <c:txPr>
    <a:bodyPr/>
    <a:lstStyle/>
    <a:p>
      <a:pPr>
        <a:defRPr sz="1100">
          <a:solidFill>
            <a:srgbClr val="52514E"/>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t>Top cities by value (Rs crore)</a:t>
            </a:r>
          </a:p>
        </c:rich>
      </c:tx>
      <c:layout/>
      <c:overlay val="0"/>
    </c:title>
    <c:autoTitleDeleted val="0"/>
    <c:plotArea>
      <c:barChart>
        <c:barDir val="bar"/>
        <c:grouping val="clustered"/>
        <c:ser>
          <c:idx val="0"/>
          <c:order val="0"/>
          <c:tx>
            <c:strRef>
              <c:f>Sheet1!$B$1</c:f>
              <c:strCache>
                <c:ptCount val="1"/>
                <c:pt idx="0">
                  <c:v>Transaction value (Rs crore)</c:v>
                </c:pt>
              </c:strCache>
            </c:strRef>
          </c:tx>
          <c:spPr>
            <a:solidFill>
              <a:srgbClr val="2A78D6"/>
            </a:solidFill>
          </c:spPr>
          <c:cat>
            <c:strRef>
              <c:f>Sheet1!$A$2:$A$9</c:f>
              <c:strCache>
                <c:ptCount val="8"/>
                <c:pt idx="0">
                  <c:v>Mumbai</c:v>
                </c:pt>
                <c:pt idx="1">
                  <c:v>New Delhi</c:v>
                </c:pt>
                <c:pt idx="2">
                  <c:v>Bangalore</c:v>
                </c:pt>
                <c:pt idx="3">
                  <c:v>Gurgaon</c:v>
                </c:pt>
                <c:pt idx="4">
                  <c:v>Delhi</c:v>
                </c:pt>
                <c:pt idx="5">
                  <c:v>Kolkata</c:v>
                </c:pt>
                <c:pt idx="6">
                  <c:v>Noida</c:v>
                </c:pt>
                <c:pt idx="7">
                  <c:v>Chennai</c:v>
                </c:pt>
              </c:strCache>
            </c:strRef>
          </c:cat>
          <c:val>
            <c:numRef>
              <c:f>Sheet1!$B$2:$B$9</c:f>
              <c:numCache>
                <c:formatCode>General</c:formatCode>
                <c:ptCount val="8"/>
                <c:pt idx="0">
                  <c:v>16.8</c:v>
                </c:pt>
                <c:pt idx="1">
                  <c:v>15.1</c:v>
                </c:pt>
                <c:pt idx="2">
                  <c:v>11.9</c:v>
                </c:pt>
                <c:pt idx="3">
                  <c:v>10.7</c:v>
                </c:pt>
                <c:pt idx="4">
                  <c:v>10.2</c:v>
                </c:pt>
                <c:pt idx="5">
                  <c:v>5.3</c:v>
                </c:pt>
                <c:pt idx="6">
                  <c:v>4.3</c:v>
                </c:pt>
                <c:pt idx="7">
                  <c:v>4.3</c:v>
                </c:pt>
              </c:numCache>
            </c:numRef>
          </c:val>
        </c:ser>
        <c:gapWidth val="50"/>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a:solidFill>
                  <a:srgbClr val="52514E"/>
                </a:solidFill>
              </a:defRPr>
            </a:pPr>
          </a:p>
        </c:txPr>
        <c:crossAx val="-2113994440"/>
        <c:crosses val="autoZero"/>
        <c:auto val="1"/>
        <c:lblAlgn val="ctr"/>
        <c:lblOffset val="100"/>
        <c:noMultiLvlLbl val="0"/>
      </c:catAx>
      <c:valAx>
        <c:axId val="-2113994440"/>
        <c:scaling/>
        <c:delete val="0"/>
        <c:axPos val="b"/>
        <c:majorGridlines>
          <c:spPr>
            <a:ln>
              <a:solidFill>
                <a:srgbClr val="E1E0D9"/>
              </a:solidFill>
            </a:ln>
          </c:spPr>
        </c:majorGridlines>
        <c:majorTickMark val="out"/>
        <c:minorTickMark val="none"/>
        <c:tickLblPos val="nextTo"/>
        <c:spPr>
          <a:ln>
            <a:noFill/>
          </a:ln>
        </c:spPr>
        <c:txPr>
          <a:bodyPr/>
          <a:lstStyle/>
          <a:p>
            <a:pPr>
              <a:defRPr>
                <a:solidFill>
                  <a:srgbClr val="898781"/>
                </a:solidFill>
              </a:defRPr>
            </a:pPr>
          </a:p>
        </c:txPr>
        <c:crossAx val="-2068027336"/>
        <c:crosses val="autoZero"/>
      </c:valAx>
    </c:plotArea>
    <c:dispBlanksAs val="gap"/>
  </c:chart>
  <c:txPr>
    <a:bodyPr/>
    <a:lstStyle/>
    <a:p>
      <a:pPr>
        <a:defRPr sz="1100">
          <a:solidFill>
            <a:srgbClr val="52514E"/>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 of customers</c:v>
                </c:pt>
              </c:strCache>
            </c:strRef>
          </c:tx>
          <c:spPr>
            <a:solidFill>
              <a:srgbClr val="2A78D6"/>
            </a:solidFill>
          </c:spPr>
          <c:cat>
            <c:strRef>
              <c:f>Sheet1!$A$2:$A$6</c:f>
              <c:strCache>
                <c:ptCount val="5"/>
                <c:pt idx="0">
                  <c:v>Engaged Repeat Users</c:v>
                </c:pt>
                <c:pt idx="1">
                  <c:v>Recent One-Time Spenders</c:v>
                </c:pt>
                <c:pt idx="2">
                  <c:v>Lapsed One-Time Spenders</c:v>
                </c:pt>
                <c:pt idx="3">
                  <c:v>Low-Ticket Occasional</c:v>
                </c:pt>
                <c:pt idx="4">
                  <c:v>Near-Zero Balance</c:v>
                </c:pt>
              </c:strCache>
            </c:strRef>
          </c:cat>
          <c:val>
            <c:numRef>
              <c:f>Sheet1!$B$2:$B$6</c:f>
              <c:numCache>
                <c:formatCode>General</c:formatCode>
                <c:ptCount val="5"/>
                <c:pt idx="0">
                  <c:v>15.0</c:v>
                </c:pt>
                <c:pt idx="1">
                  <c:v>24.1</c:v>
                </c:pt>
                <c:pt idx="2">
                  <c:v>25.5</c:v>
                </c:pt>
                <c:pt idx="3">
                  <c:v>25.8</c:v>
                </c:pt>
                <c:pt idx="4">
                  <c:v>9.5</c:v>
                </c:pt>
              </c:numCache>
            </c:numRef>
          </c:val>
        </c:ser>
        <c:ser>
          <c:idx val="1"/>
          <c:order val="1"/>
          <c:tx>
            <c:strRef>
              <c:f>Sheet1!$C$1</c:f>
              <c:strCache>
                <c:ptCount val="1"/>
                <c:pt idx="0">
                  <c:v>% of value</c:v>
                </c:pt>
              </c:strCache>
            </c:strRef>
          </c:tx>
          <c:spPr>
            <a:solidFill>
              <a:srgbClr val="EB6834"/>
            </a:solidFill>
          </c:spPr>
          <c:cat>
            <c:strRef>
              <c:f>Sheet1!$A$2:$A$6</c:f>
              <c:strCache>
                <c:ptCount val="5"/>
                <c:pt idx="0">
                  <c:v>Engaged Repeat Users</c:v>
                </c:pt>
                <c:pt idx="1">
                  <c:v>Recent One-Time Spenders</c:v>
                </c:pt>
                <c:pt idx="2">
                  <c:v>Lapsed One-Time Spenders</c:v>
                </c:pt>
                <c:pt idx="3">
                  <c:v>Low-Ticket Occasional</c:v>
                </c:pt>
                <c:pt idx="4">
                  <c:v>Near-Zero Balance</c:v>
                </c:pt>
              </c:strCache>
            </c:strRef>
          </c:cat>
          <c:val>
            <c:numRef>
              <c:f>Sheet1!$C$2:$C$6</c:f>
              <c:numCache>
                <c:formatCode>General</c:formatCode>
                <c:ptCount val="5"/>
                <c:pt idx="0">
                  <c:v>28.1</c:v>
                </c:pt>
                <c:pt idx="1">
                  <c:v>33.2</c:v>
                </c:pt>
                <c:pt idx="2">
                  <c:v>34.3</c:v>
                </c:pt>
                <c:pt idx="3">
                  <c:v>1.6</c:v>
                </c:pt>
                <c:pt idx="4">
                  <c:v>2.7</c:v>
                </c:pt>
              </c:numCache>
            </c:numRef>
          </c:val>
        </c:ser>
        <c:gapWidth val="70"/>
        <c:overlap val="-10"/>
        <c:axId val="-2068027336"/>
        <c:axId val="-2113994440"/>
      </c:barChart>
      <c:catAx>
        <c:axId val="-2068027336"/>
        <c:scaling>
          <c:orientation val="maxMin"/>
        </c:scaling>
        <c:delete val="0"/>
        <c:axPos val="l"/>
        <c:majorTickMark val="out"/>
        <c:minorTickMark val="none"/>
        <c:tickLblPos val="nextTo"/>
        <c:spPr>
          <a:ln>
            <a:solidFill>
              <a:srgbClr val="E1E0D9"/>
            </a:solidFill>
          </a:ln>
        </c:spPr>
        <c:txPr>
          <a:bodyPr/>
          <a:lstStyle/>
          <a:p>
            <a:pPr>
              <a:defRPr>
                <a:solidFill>
                  <a:srgbClr val="52514E"/>
                </a:solidFill>
              </a:defRPr>
            </a:pPr>
          </a:p>
        </c:txPr>
        <c:crossAx val="-2113994440"/>
        <c:crosses val="autoZero"/>
        <c:auto val="1"/>
        <c:lblAlgn val="ctr"/>
        <c:lblOffset val="100"/>
        <c:noMultiLvlLbl val="0"/>
      </c:catAx>
      <c:valAx>
        <c:axId val="-2113994440"/>
        <c:scaling/>
        <c:delete val="0"/>
        <c:axPos val="b"/>
        <c:majorGridlines>
          <c:spPr>
            <a:ln>
              <a:solidFill>
                <a:srgbClr val="E1E0D9"/>
              </a:solidFill>
            </a:ln>
          </c:spPr>
        </c:majorGridlines>
        <c:numFmt formatCode="0&quot;%&quot;" sourceLinked="0"/>
        <c:majorTickMark val="out"/>
        <c:minorTickMark val="none"/>
        <c:tickLblPos val="nextTo"/>
        <c:spPr>
          <a:ln>
            <a:noFill/>
          </a:ln>
        </c:spPr>
        <c:txPr>
          <a:bodyPr/>
          <a:lstStyle/>
          <a:p>
            <a:pPr>
              <a:defRPr>
                <a:solidFill>
                  <a:srgbClr val="898781"/>
                </a:solidFill>
              </a:defRPr>
            </a:pPr>
          </a:p>
        </c:txPr>
        <c:crossAx val="-2068027336"/>
        <c:crosses val="autoZero"/>
      </c:valAx>
    </c:plotArea>
    <c:legend>
      <c:legendPos val="t"/>
      <c:overlay val="0"/>
      <c:txPr>
        <a:bodyPr/>
        <a:lstStyle/>
        <a:p>
          <a:pPr>
            <a:defRPr sz="1100"/>
          </a:pPr>
        </a:p>
      </c:txPr>
    </c:legend>
    <c:dispBlanksAs val="gap"/>
  </c:chart>
  <c:txPr>
    <a:bodyPr/>
    <a:lstStyle/>
    <a:p>
      <a:pPr>
        <a:defRPr sz="1100">
          <a:solidFill>
            <a:srgbClr val="52514E"/>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Banks have millions of records but limited relationship-manager time. The question is whom to focus on and why. This project turns a transaction file into one row per customer, groups customers by behaviour and ranks conversation opportunities, so a manager can answer: who, why, what, where and how large.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public dataset, not ICICI data. We profiled it first and found two issues: coverage ends on 15 September, and CustomerIDs are not stable person keys. We fixed the window to 46 days, logged every removed row, built one row per customer in SQL, and segmented in Python. Every total reconciles across SQL, Python, Excel and Power BI.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who the customers are and where. 72% are aged 18-34. Mumbai, New Delhi, Bangalore, Gurgaon and Delhi lead on value. Value is extremely concentrated: the top 1% generate 27% and the top 10% generate 63% of transaction value. 85% of customers transacted only once in the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behaviour segments from K-Means, chosen from k = 3 to 10 on silhouette and stability. A small group carries much of the value, and each segment needs a different action. The two one-time spender groups look alike except for recency: one is recent, one is going quiet.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holdings are unknown, so these are signals to start conversations, not recommendations or eligibility decisions. Cards and investments lead for engaged customers; re-engagement comes first for the lapsed group. Tier A is the top 5% by score: 42,077 customers with ₹1,721 Cr addressable balance.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why, what, where, how large. The Manager Action page ranks customers, explains the reason in plain words, names the product theme and city, and sizes the opportunity. Filters for city, segment, tier, theme and evidence level narrow the list to one branch's portfolio. The same view exists in Power BI (Page 4) and on the public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findings, each with its consequence. Numbers are from the reconciled pipeline; none are pre-written.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specific and measurable: each segment has an owner, timing and KPI. Start with a four-week pilot on Tier A, track the response, then use the outcome data to tighten the broad signal rules and learn the score weights.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2.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01 · BUSINESS PROBLEM</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Managers need a customer view, not a transaction log</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1</a:t>
            </a:r>
          </a:p>
        </p:txBody>
      </p:sp>
      <p:sp>
        <p:nvSpPr>
          <p:cNvPr id="7" name="Rounded Rectangle 6"/>
          <p:cNvSpPr/>
          <p:nvPr/>
        </p:nvSpPr>
        <p:spPr>
          <a:xfrm>
            <a:off x="548640" y="2011680"/>
            <a:ext cx="2514600" cy="182880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25146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86000"/>
            <a:ext cx="2103120" cy="457200"/>
          </a:xfrm>
          <a:prstGeom prst="rect">
            <a:avLst/>
          </a:prstGeom>
          <a:noFill/>
        </p:spPr>
        <p:txBody>
          <a:bodyPr wrap="square" anchor="t" lIns="0" rIns="0">
            <a:spAutoFit/>
          </a:bodyPr>
          <a:lstStyle/>
          <a:p>
            <a:pPr algn="l">
              <a:spcAft>
                <a:spcPts val="600"/>
              </a:spcAft>
            </a:pPr>
            <a:r>
              <a:rPr sz="2000" b="1">
                <a:solidFill>
                  <a:srgbClr val="0B0B0B"/>
                </a:solidFill>
                <a:latin typeface="Segoe UI"/>
              </a:rPr>
              <a:t>Transactions</a:t>
            </a:r>
          </a:p>
        </p:txBody>
      </p:sp>
      <p:sp>
        <p:nvSpPr>
          <p:cNvPr id="10" name="TextBox 9"/>
          <p:cNvSpPr txBox="1"/>
          <p:nvPr/>
        </p:nvSpPr>
        <p:spPr>
          <a:xfrm>
            <a:off x="777240" y="2834640"/>
            <a:ext cx="2103120" cy="914400"/>
          </a:xfrm>
          <a:prstGeom prst="rect">
            <a:avLst/>
          </a:prstGeom>
          <a:noFill/>
        </p:spPr>
        <p:txBody>
          <a:bodyPr wrap="square" anchor="t" lIns="0" rIns="0">
            <a:spAutoFit/>
          </a:bodyPr>
          <a:lstStyle/>
          <a:p>
            <a:pPr algn="l">
              <a:spcAft>
                <a:spcPts val="600"/>
              </a:spcAft>
            </a:pPr>
            <a:r>
              <a:rPr sz="1400" b="0">
                <a:solidFill>
                  <a:srgbClr val="52514E"/>
                </a:solidFill>
                <a:latin typeface="Segoe UI"/>
              </a:rPr>
              <a:t>9.9 lakh rows</a:t>
            </a:r>
          </a:p>
          <a:p>
            <a:pPr algn="l">
              <a:spcAft>
                <a:spcPts val="600"/>
              </a:spcAft>
            </a:pPr>
            <a:r>
              <a:rPr sz="1400" b="0">
                <a:solidFill>
                  <a:srgbClr val="52514E"/>
                </a:solidFill>
                <a:latin typeface="Segoe UI"/>
              </a:rPr>
              <a:t>what happened</a:t>
            </a:r>
          </a:p>
        </p:txBody>
      </p:sp>
      <p:sp>
        <p:nvSpPr>
          <p:cNvPr id="11" name="Right Arrow 10"/>
          <p:cNvSpPr/>
          <p:nvPr/>
        </p:nvSpPr>
        <p:spPr>
          <a:xfrm>
            <a:off x="3108960" y="2788920"/>
            <a:ext cx="27432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2011680"/>
            <a:ext cx="2514600" cy="182880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2011680"/>
            <a:ext cx="2514600" cy="10972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286000"/>
            <a:ext cx="2103120" cy="457200"/>
          </a:xfrm>
          <a:prstGeom prst="rect">
            <a:avLst/>
          </a:prstGeom>
          <a:noFill/>
        </p:spPr>
        <p:txBody>
          <a:bodyPr wrap="square" anchor="t" lIns="0" rIns="0">
            <a:spAutoFit/>
          </a:bodyPr>
          <a:lstStyle/>
          <a:p>
            <a:pPr algn="l">
              <a:spcAft>
                <a:spcPts val="600"/>
              </a:spcAft>
            </a:pPr>
            <a:r>
              <a:rPr sz="2000" b="1">
                <a:solidFill>
                  <a:srgbClr val="0B0B0B"/>
                </a:solidFill>
                <a:latin typeface="Segoe UI"/>
              </a:rPr>
              <a:t>Customers</a:t>
            </a:r>
          </a:p>
        </p:txBody>
      </p:sp>
      <p:sp>
        <p:nvSpPr>
          <p:cNvPr id="15" name="TextBox 14"/>
          <p:cNvSpPr txBox="1"/>
          <p:nvPr/>
        </p:nvSpPr>
        <p:spPr>
          <a:xfrm>
            <a:off x="3657600" y="2834640"/>
            <a:ext cx="2103120" cy="914400"/>
          </a:xfrm>
          <a:prstGeom prst="rect">
            <a:avLst/>
          </a:prstGeom>
          <a:noFill/>
        </p:spPr>
        <p:txBody>
          <a:bodyPr wrap="square" anchor="t" lIns="0" rIns="0">
            <a:spAutoFit/>
          </a:bodyPr>
          <a:lstStyle/>
          <a:p>
            <a:pPr algn="l">
              <a:spcAft>
                <a:spcPts val="600"/>
              </a:spcAft>
            </a:pPr>
            <a:r>
              <a:rPr sz="1400" b="0">
                <a:solidFill>
                  <a:srgbClr val="52514E"/>
                </a:solidFill>
                <a:latin typeface="Segoe UI"/>
              </a:rPr>
              <a:t>8.4 lakh profiles</a:t>
            </a:r>
          </a:p>
          <a:p>
            <a:pPr algn="l">
              <a:spcAft>
                <a:spcPts val="600"/>
              </a:spcAft>
            </a:pPr>
            <a:r>
              <a:rPr sz="1400" b="0">
                <a:solidFill>
                  <a:srgbClr val="52514E"/>
                </a:solidFill>
                <a:latin typeface="Segoe UI"/>
              </a:rPr>
              <a:t>who they are</a:t>
            </a:r>
          </a:p>
        </p:txBody>
      </p:sp>
      <p:sp>
        <p:nvSpPr>
          <p:cNvPr id="16" name="Right Arrow 15"/>
          <p:cNvSpPr/>
          <p:nvPr/>
        </p:nvSpPr>
        <p:spPr>
          <a:xfrm>
            <a:off x="5989320" y="2788920"/>
            <a:ext cx="27432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59" y="2011680"/>
            <a:ext cx="2514600" cy="182880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59" y="2011680"/>
            <a:ext cx="2514600" cy="1097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59" y="2286000"/>
            <a:ext cx="2103120" cy="457200"/>
          </a:xfrm>
          <a:prstGeom prst="rect">
            <a:avLst/>
          </a:prstGeom>
          <a:noFill/>
        </p:spPr>
        <p:txBody>
          <a:bodyPr wrap="square" anchor="t" lIns="0" rIns="0">
            <a:spAutoFit/>
          </a:bodyPr>
          <a:lstStyle/>
          <a:p>
            <a:pPr algn="l">
              <a:spcAft>
                <a:spcPts val="600"/>
              </a:spcAft>
            </a:pPr>
            <a:r>
              <a:rPr sz="2000" b="1">
                <a:solidFill>
                  <a:srgbClr val="0B0B0B"/>
                </a:solidFill>
                <a:latin typeface="Segoe UI"/>
              </a:rPr>
              <a:t>Segments</a:t>
            </a:r>
          </a:p>
        </p:txBody>
      </p:sp>
      <p:sp>
        <p:nvSpPr>
          <p:cNvPr id="20" name="TextBox 19"/>
          <p:cNvSpPr txBox="1"/>
          <p:nvPr/>
        </p:nvSpPr>
        <p:spPr>
          <a:xfrm>
            <a:off x="6537959" y="2834640"/>
            <a:ext cx="2103120" cy="914400"/>
          </a:xfrm>
          <a:prstGeom prst="rect">
            <a:avLst/>
          </a:prstGeom>
          <a:noFill/>
        </p:spPr>
        <p:txBody>
          <a:bodyPr wrap="square" anchor="t" lIns="0" rIns="0">
            <a:spAutoFit/>
          </a:bodyPr>
          <a:lstStyle/>
          <a:p>
            <a:pPr algn="l">
              <a:spcAft>
                <a:spcPts val="600"/>
              </a:spcAft>
            </a:pPr>
            <a:r>
              <a:rPr sz="1400" b="0">
                <a:solidFill>
                  <a:srgbClr val="52514E"/>
                </a:solidFill>
                <a:latin typeface="Segoe UI"/>
              </a:rPr>
              <a:t>5 behaviour groups</a:t>
            </a:r>
          </a:p>
          <a:p>
            <a:pPr algn="l">
              <a:spcAft>
                <a:spcPts val="600"/>
              </a:spcAft>
            </a:pPr>
            <a:r>
              <a:rPr sz="1400" b="0">
                <a:solidFill>
                  <a:srgbClr val="52514E"/>
                </a:solidFill>
                <a:latin typeface="Segoe UI"/>
              </a:rPr>
              <a:t>how they behave</a:t>
            </a:r>
          </a:p>
        </p:txBody>
      </p:sp>
      <p:sp>
        <p:nvSpPr>
          <p:cNvPr id="21" name="Right Arrow 20"/>
          <p:cNvSpPr/>
          <p:nvPr/>
        </p:nvSpPr>
        <p:spPr>
          <a:xfrm>
            <a:off x="8869679" y="2788920"/>
            <a:ext cx="274320" cy="274320"/>
          </a:xfrm>
          <a:prstGeom prst="rightArrow">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89719" y="2011680"/>
            <a:ext cx="2514600" cy="182880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9719" y="2011680"/>
            <a:ext cx="2514600" cy="10972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19" y="2286000"/>
            <a:ext cx="2103120" cy="457200"/>
          </a:xfrm>
          <a:prstGeom prst="rect">
            <a:avLst/>
          </a:prstGeom>
          <a:noFill/>
        </p:spPr>
        <p:txBody>
          <a:bodyPr wrap="square" anchor="t" lIns="0" rIns="0">
            <a:spAutoFit/>
          </a:bodyPr>
          <a:lstStyle/>
          <a:p>
            <a:pPr algn="l">
              <a:spcAft>
                <a:spcPts val="600"/>
              </a:spcAft>
            </a:pPr>
            <a:r>
              <a:rPr sz="2000" b="1">
                <a:solidFill>
                  <a:srgbClr val="0B0B0B"/>
                </a:solidFill>
                <a:latin typeface="Segoe UI"/>
              </a:rPr>
              <a:t>Actions</a:t>
            </a:r>
          </a:p>
        </p:txBody>
      </p:sp>
      <p:sp>
        <p:nvSpPr>
          <p:cNvPr id="25" name="TextBox 24"/>
          <p:cNvSpPr txBox="1"/>
          <p:nvPr/>
        </p:nvSpPr>
        <p:spPr>
          <a:xfrm>
            <a:off x="9418319" y="2834640"/>
            <a:ext cx="2103120" cy="914400"/>
          </a:xfrm>
          <a:prstGeom prst="rect">
            <a:avLst/>
          </a:prstGeom>
          <a:noFill/>
        </p:spPr>
        <p:txBody>
          <a:bodyPr wrap="square" anchor="t" lIns="0" rIns="0">
            <a:spAutoFit/>
          </a:bodyPr>
          <a:lstStyle/>
          <a:p>
            <a:pPr algn="l">
              <a:spcAft>
                <a:spcPts val="600"/>
              </a:spcAft>
            </a:pPr>
            <a:r>
              <a:rPr sz="1400" b="0">
                <a:solidFill>
                  <a:srgbClr val="52514E"/>
                </a:solidFill>
                <a:latin typeface="Segoe UI"/>
              </a:rPr>
              <a:t>42K Tier A customers</a:t>
            </a:r>
          </a:p>
          <a:p>
            <a:pPr algn="l">
              <a:spcAft>
                <a:spcPts val="600"/>
              </a:spcAft>
            </a:pPr>
            <a:r>
              <a:rPr sz="1400" b="0">
                <a:solidFill>
                  <a:srgbClr val="52514E"/>
                </a:solidFill>
                <a:latin typeface="Segoe UI"/>
              </a:rPr>
              <a:t>whom to call first</a:t>
            </a:r>
          </a:p>
        </p:txBody>
      </p:sp>
      <p:sp>
        <p:nvSpPr>
          <p:cNvPr id="26" name="TextBox 25"/>
          <p:cNvSpPr txBox="1"/>
          <p:nvPr/>
        </p:nvSpPr>
        <p:spPr>
          <a:xfrm>
            <a:off x="548640" y="4389120"/>
            <a:ext cx="2194560" cy="822960"/>
          </a:xfrm>
          <a:prstGeom prst="rect">
            <a:avLst/>
          </a:prstGeom>
          <a:noFill/>
        </p:spPr>
        <p:txBody>
          <a:bodyPr wrap="square" anchor="t" lIns="0" rIns="0">
            <a:spAutoFit/>
          </a:bodyPr>
          <a:lstStyle/>
          <a:p>
            <a:pPr algn="l">
              <a:spcAft>
                <a:spcPts val="600"/>
              </a:spcAft>
            </a:pPr>
            <a:r>
              <a:rPr sz="1600" b="1">
                <a:solidFill>
                  <a:srgbClr val="0B0B0B"/>
                </a:solidFill>
                <a:latin typeface="Segoe UI"/>
              </a:rPr>
              <a:t>Who </a:t>
            </a:r>
            <a:r>
              <a:rPr sz="1600" b="0">
                <a:solidFill>
                  <a:srgbClr val="52514E"/>
                </a:solidFill>
                <a:latin typeface="Segoe UI"/>
              </a:rPr>
              <a:t>should I focus on?</a:t>
            </a:r>
          </a:p>
        </p:txBody>
      </p:sp>
      <p:sp>
        <p:nvSpPr>
          <p:cNvPr id="27" name="TextBox 26"/>
          <p:cNvSpPr txBox="1"/>
          <p:nvPr/>
        </p:nvSpPr>
        <p:spPr>
          <a:xfrm>
            <a:off x="2834640" y="4389120"/>
            <a:ext cx="2194560" cy="822960"/>
          </a:xfrm>
          <a:prstGeom prst="rect">
            <a:avLst/>
          </a:prstGeom>
          <a:noFill/>
        </p:spPr>
        <p:txBody>
          <a:bodyPr wrap="square" anchor="t" lIns="0" rIns="0">
            <a:spAutoFit/>
          </a:bodyPr>
          <a:lstStyle/>
          <a:p>
            <a:pPr algn="l">
              <a:spcAft>
                <a:spcPts val="600"/>
              </a:spcAft>
            </a:pPr>
            <a:r>
              <a:rPr sz="1600" b="1">
                <a:solidFill>
                  <a:srgbClr val="0B0B0B"/>
                </a:solidFill>
                <a:latin typeface="Segoe UI"/>
              </a:rPr>
              <a:t>Why </a:t>
            </a:r>
            <a:r>
              <a:rPr sz="1600" b="0">
                <a:solidFill>
                  <a:srgbClr val="52514E"/>
                </a:solidFill>
                <a:latin typeface="Segoe UI"/>
              </a:rPr>
              <a:t>them?</a:t>
            </a:r>
          </a:p>
        </p:txBody>
      </p:sp>
      <p:sp>
        <p:nvSpPr>
          <p:cNvPr id="28" name="TextBox 27"/>
          <p:cNvSpPr txBox="1"/>
          <p:nvPr/>
        </p:nvSpPr>
        <p:spPr>
          <a:xfrm>
            <a:off x="5120640" y="4389120"/>
            <a:ext cx="2194560" cy="822960"/>
          </a:xfrm>
          <a:prstGeom prst="rect">
            <a:avLst/>
          </a:prstGeom>
          <a:noFill/>
        </p:spPr>
        <p:txBody>
          <a:bodyPr wrap="square" anchor="t" lIns="0" rIns="0">
            <a:spAutoFit/>
          </a:bodyPr>
          <a:lstStyle/>
          <a:p>
            <a:pPr algn="l">
              <a:spcAft>
                <a:spcPts val="600"/>
              </a:spcAft>
            </a:pPr>
            <a:r>
              <a:rPr sz="1600" b="1">
                <a:solidFill>
                  <a:srgbClr val="0B0B0B"/>
                </a:solidFill>
                <a:latin typeface="Segoe UI"/>
              </a:rPr>
              <a:t>What </a:t>
            </a:r>
            <a:r>
              <a:rPr sz="1600" b="0">
                <a:solidFill>
                  <a:srgbClr val="52514E"/>
                </a:solidFill>
                <a:latin typeface="Segoe UI"/>
              </a:rPr>
              <a:t>opportunity exists?</a:t>
            </a:r>
          </a:p>
        </p:txBody>
      </p:sp>
      <p:sp>
        <p:nvSpPr>
          <p:cNvPr id="29" name="TextBox 28"/>
          <p:cNvSpPr txBox="1"/>
          <p:nvPr/>
        </p:nvSpPr>
        <p:spPr>
          <a:xfrm>
            <a:off x="7406640" y="4389120"/>
            <a:ext cx="2194560" cy="822960"/>
          </a:xfrm>
          <a:prstGeom prst="rect">
            <a:avLst/>
          </a:prstGeom>
          <a:noFill/>
        </p:spPr>
        <p:txBody>
          <a:bodyPr wrap="square" anchor="t" lIns="0" rIns="0">
            <a:spAutoFit/>
          </a:bodyPr>
          <a:lstStyle/>
          <a:p>
            <a:pPr algn="l">
              <a:spcAft>
                <a:spcPts val="600"/>
              </a:spcAft>
            </a:pPr>
            <a:r>
              <a:rPr sz="1600" b="1">
                <a:solidFill>
                  <a:srgbClr val="0B0B0B"/>
                </a:solidFill>
                <a:latin typeface="Segoe UI"/>
              </a:rPr>
              <a:t>Where </a:t>
            </a:r>
            <a:r>
              <a:rPr sz="1600" b="0">
                <a:solidFill>
                  <a:srgbClr val="52514E"/>
                </a:solidFill>
                <a:latin typeface="Segoe UI"/>
              </a:rPr>
              <a:t>are they?</a:t>
            </a:r>
          </a:p>
        </p:txBody>
      </p:sp>
      <p:sp>
        <p:nvSpPr>
          <p:cNvPr id="30" name="TextBox 29"/>
          <p:cNvSpPr txBox="1"/>
          <p:nvPr/>
        </p:nvSpPr>
        <p:spPr>
          <a:xfrm>
            <a:off x="9692640" y="4389120"/>
            <a:ext cx="2194560" cy="822960"/>
          </a:xfrm>
          <a:prstGeom prst="rect">
            <a:avLst/>
          </a:prstGeom>
          <a:noFill/>
        </p:spPr>
        <p:txBody>
          <a:bodyPr wrap="square" anchor="t" lIns="0" rIns="0">
            <a:spAutoFit/>
          </a:bodyPr>
          <a:lstStyle/>
          <a:p>
            <a:pPr algn="l">
              <a:spcAft>
                <a:spcPts val="600"/>
              </a:spcAft>
            </a:pPr>
            <a:r>
              <a:rPr sz="1600" b="1">
                <a:solidFill>
                  <a:srgbClr val="0B0B0B"/>
                </a:solidFill>
                <a:latin typeface="Segoe UI"/>
              </a:rPr>
              <a:t>How large </a:t>
            </a:r>
            <a:r>
              <a:rPr sz="1600" b="0">
                <a:solidFill>
                  <a:srgbClr val="52514E"/>
                </a:solidFill>
                <a:latin typeface="Segoe UI"/>
              </a:rPr>
              <a:t>is it?</a:t>
            </a:r>
          </a:p>
        </p:txBody>
      </p:sp>
      <p:sp>
        <p:nvSpPr>
          <p:cNvPr id="31" name="TextBox 30"/>
          <p:cNvSpPr txBox="1"/>
          <p:nvPr/>
        </p:nvSpPr>
        <p:spPr>
          <a:xfrm>
            <a:off x="548640" y="5212080"/>
            <a:ext cx="10972800" cy="731520"/>
          </a:xfrm>
          <a:prstGeom prst="rect">
            <a:avLst/>
          </a:prstGeom>
          <a:noFill/>
        </p:spPr>
        <p:txBody>
          <a:bodyPr wrap="square" anchor="t" lIns="0" rIns="0">
            <a:spAutoFit/>
          </a:bodyPr>
          <a:lstStyle/>
          <a:p>
            <a:pPr algn="l">
              <a:spcAft>
                <a:spcPts val="600"/>
              </a:spcAft>
            </a:pPr>
            <a:r>
              <a:rPr sz="1400" b="0">
                <a:solidFill>
                  <a:srgbClr val="52514E"/>
                </a:solidFill>
                <a:latin typeface="Segoe UI"/>
              </a:rPr>
              <a:t>Five questions a relationship manager must answer with limited time. The Customer 360 makes each one answerable on a single 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02 · DATASET &amp; METHODOLOGY</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Public data, documented rules, every row accounted for</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2</a:t>
            </a:r>
          </a:p>
        </p:txBody>
      </p:sp>
      <p:graphicFrame>
        <p:nvGraphicFramePr>
          <p:cNvPr id="7" name="Chart 6"/>
          <p:cNvGraphicFramePr>
            <a:graphicFrameLocks noGrp="1"/>
          </p:cNvGraphicFramePr>
          <p:nvPr/>
        </p:nvGraphicFramePr>
        <p:xfrm>
          <a:off x="548640" y="1737360"/>
          <a:ext cx="5486400" cy="2377440"/>
        </p:xfrm>
        <a:graphic>
          <a:graphicData uri="http://schemas.openxmlformats.org/drawingml/2006/chart">
            <c:chart xmlns:c="http://schemas.openxmlformats.org/drawingml/2006/chart" r:id="rId3"/>
          </a:graphicData>
        </a:graphic>
      </p:graphicFrame>
      <p:sp>
        <p:nvSpPr>
          <p:cNvPr id="8" name="TextBox 7"/>
          <p:cNvSpPr txBox="1"/>
          <p:nvPr/>
        </p:nvSpPr>
        <p:spPr>
          <a:xfrm>
            <a:off x="548640" y="4206240"/>
            <a:ext cx="5486400" cy="1737360"/>
          </a:xfrm>
          <a:prstGeom prst="rect">
            <a:avLst/>
          </a:prstGeom>
          <a:noFill/>
        </p:spPr>
        <p:txBody>
          <a:bodyPr wrap="square" anchor="t" lIns="0" rIns="0">
            <a:spAutoFit/>
          </a:bodyPr>
          <a:lstStyle/>
          <a:p>
            <a:pPr algn="l">
              <a:spcAft>
                <a:spcPts val="600"/>
              </a:spcAft>
            </a:pPr>
            <a:r>
              <a:rPr sz="1300" b="1">
                <a:solidFill>
                  <a:srgbClr val="0B0B0B"/>
                </a:solidFill>
                <a:latin typeface="Segoe UI"/>
              </a:rPr>
              <a:t>Rejected: </a:t>
            </a:r>
            <a:r>
              <a:rPr sz="1300" b="0">
                <a:solidFill>
                  <a:srgbClr val="52514E"/>
                </a:solidFill>
                <a:latin typeface="Segoe UI"/>
              </a:rPr>
              <a:t>59,620 rows, all logged with a reason (sparse tail after 15 Sep; zero amounts).</a:t>
            </a:r>
          </a:p>
          <a:p>
            <a:pPr algn="l">
              <a:spcAft>
                <a:spcPts val="600"/>
              </a:spcAft>
            </a:pPr>
            <a:r>
              <a:rPr sz="1300" b="1">
                <a:solidFill>
                  <a:srgbClr val="0B0B0B"/>
                </a:solidFill>
                <a:latin typeface="Segoe UI"/>
              </a:rPr>
              <a:t>Quality: </a:t>
            </a:r>
            <a:r>
              <a:rPr sz="1300" b="0">
                <a:solidFill>
                  <a:srgbClr val="52514E"/>
                </a:solidFill>
                <a:latin typeface="Segoe UI"/>
              </a:rPr>
              <a:t>17 checks pass, 1 documented exception (placeholder birth dates), 6 profiling findings.</a:t>
            </a:r>
          </a:p>
          <a:p>
            <a:pPr algn="l">
              <a:spcAft>
                <a:spcPts val="600"/>
              </a:spcAft>
            </a:pPr>
            <a:r>
              <a:rPr sz="1300" b="1">
                <a:solidFill>
                  <a:srgbClr val="0B0B0B"/>
                </a:solidFill>
                <a:latin typeface="Segoe UI"/>
              </a:rPr>
              <a:t>Identity: </a:t>
            </a:r>
            <a:r>
              <a:rPr sz="1300" b="0">
                <a:solidFill>
                  <a:srgbClr val="52514E"/>
                </a:solidFill>
                <a:latin typeface="Segoe UI"/>
              </a:rPr>
              <a:t>only 0.9% of repeat CustomerIDs keep consistent demographics, so repeat behaviour is weak evidence.</a:t>
            </a:r>
          </a:p>
        </p:txBody>
      </p:sp>
      <p:sp>
        <p:nvSpPr>
          <p:cNvPr id="9" name="Rounded Rectangle 8"/>
          <p:cNvSpPr/>
          <p:nvPr/>
        </p:nvSpPr>
        <p:spPr>
          <a:xfrm>
            <a:off x="6766560" y="1737360"/>
            <a:ext cx="4846320" cy="118872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1874520"/>
            <a:ext cx="4480560" cy="1005840"/>
          </a:xfrm>
          <a:prstGeom prst="rect">
            <a:avLst/>
          </a:prstGeom>
          <a:noFill/>
        </p:spPr>
        <p:txBody>
          <a:bodyPr wrap="square" anchor="t" lIns="0" rIns="0">
            <a:spAutoFit/>
          </a:bodyPr>
          <a:lstStyle/>
          <a:p>
            <a:pPr algn="l">
              <a:spcAft>
                <a:spcPts val="600"/>
              </a:spcAft>
            </a:pPr>
            <a:r>
              <a:rPr sz="1300" b="1">
                <a:solidFill>
                  <a:srgbClr val="0B0B0B"/>
                </a:solidFill>
                <a:latin typeface="Segoe UI"/>
              </a:rPr>
              <a:t>PostgreSQL 16</a:t>
            </a:r>
          </a:p>
          <a:p>
            <a:pPr algn="l">
              <a:spcAft>
                <a:spcPts val="600"/>
              </a:spcAft>
            </a:pPr>
            <a:r>
              <a:rPr sz="1300" b="0">
                <a:solidFill>
                  <a:srgbClr val="52514E"/>
                </a:solidFill>
                <a:latin typeface="Segoe UI"/>
              </a:rPr>
              <a:t>staging · 17 cleaning rules</a:t>
            </a:r>
          </a:p>
          <a:p>
            <a:pPr algn="l">
              <a:spcAft>
                <a:spcPts val="600"/>
              </a:spcAft>
            </a:pPr>
            <a:r>
              <a:rPr sz="1300" b="0">
                <a:solidFill>
                  <a:srgbClr val="52514E"/>
                </a:solidFill>
                <a:latin typeface="Segoe UI"/>
              </a:rPr>
              <a:t>star model · customer_360</a:t>
            </a:r>
          </a:p>
        </p:txBody>
      </p:sp>
      <p:sp>
        <p:nvSpPr>
          <p:cNvPr id="11" name="Rounded Rectangle 10"/>
          <p:cNvSpPr/>
          <p:nvPr/>
        </p:nvSpPr>
        <p:spPr>
          <a:xfrm>
            <a:off x="6766560" y="3200400"/>
            <a:ext cx="4846320" cy="118872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3337560"/>
            <a:ext cx="4480560" cy="1005840"/>
          </a:xfrm>
          <a:prstGeom prst="rect">
            <a:avLst/>
          </a:prstGeom>
          <a:noFill/>
        </p:spPr>
        <p:txBody>
          <a:bodyPr wrap="square" anchor="t" lIns="0" rIns="0">
            <a:spAutoFit/>
          </a:bodyPr>
          <a:lstStyle/>
          <a:p>
            <a:pPr algn="l">
              <a:spcAft>
                <a:spcPts val="600"/>
              </a:spcAft>
            </a:pPr>
            <a:r>
              <a:rPr sz="1300" b="1">
                <a:solidFill>
                  <a:srgbClr val="0B0B0B"/>
                </a:solidFill>
                <a:latin typeface="Segoe UI"/>
              </a:rPr>
              <a:t>Python</a:t>
            </a:r>
          </a:p>
          <a:p>
            <a:pPr algn="l">
              <a:spcAft>
                <a:spcPts val="600"/>
              </a:spcAft>
            </a:pPr>
            <a:r>
              <a:rPr sz="1300" b="0">
                <a:solidFill>
                  <a:srgbClr val="52514E"/>
                </a:solidFill>
                <a:latin typeface="Segoe UI"/>
              </a:rPr>
              <a:t>EDA · 4 tests with effect sizes</a:t>
            </a:r>
          </a:p>
          <a:p>
            <a:pPr algn="l">
              <a:spcAft>
                <a:spcPts val="600"/>
              </a:spcAft>
            </a:pPr>
            <a:r>
              <a:rPr sz="1300" b="0">
                <a:solidFill>
                  <a:srgbClr val="52514E"/>
                </a:solidFill>
                <a:latin typeface="Segoe UI"/>
              </a:rPr>
              <a:t>K-Means (k = 5) · scoring</a:t>
            </a:r>
          </a:p>
        </p:txBody>
      </p:sp>
      <p:sp>
        <p:nvSpPr>
          <p:cNvPr id="13" name="Rounded Rectangle 12"/>
          <p:cNvSpPr/>
          <p:nvPr/>
        </p:nvSpPr>
        <p:spPr>
          <a:xfrm>
            <a:off x="6766560" y="4663440"/>
            <a:ext cx="4846320" cy="118872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4800600"/>
            <a:ext cx="4480560" cy="1005840"/>
          </a:xfrm>
          <a:prstGeom prst="rect">
            <a:avLst/>
          </a:prstGeom>
          <a:noFill/>
        </p:spPr>
        <p:txBody>
          <a:bodyPr wrap="square" anchor="t" lIns="0" rIns="0">
            <a:spAutoFit/>
          </a:bodyPr>
          <a:lstStyle/>
          <a:p>
            <a:pPr algn="l">
              <a:spcAft>
                <a:spcPts val="600"/>
              </a:spcAft>
            </a:pPr>
            <a:r>
              <a:rPr sz="1300" b="1">
                <a:solidFill>
                  <a:srgbClr val="0B0B0B"/>
                </a:solidFill>
                <a:latin typeface="Segoe UI"/>
              </a:rPr>
              <a:t>Delivery</a:t>
            </a:r>
          </a:p>
          <a:p>
            <a:pPr algn="l">
              <a:spcAft>
                <a:spcPts val="600"/>
              </a:spcAft>
            </a:pPr>
            <a:r>
              <a:rPr sz="1300" b="0">
                <a:solidFill>
                  <a:srgbClr val="52514E"/>
                </a:solidFill>
                <a:latin typeface="Segoe UI"/>
              </a:rPr>
              <a:t>Power BI · Excel MIS</a:t>
            </a:r>
          </a:p>
          <a:p>
            <a:pPr algn="l">
              <a:spcAft>
                <a:spcPts val="600"/>
              </a:spcAft>
            </a:pPr>
            <a:r>
              <a:rPr sz="1300" b="0">
                <a:solidFill>
                  <a:srgbClr val="52514E"/>
                </a:solidFill>
                <a:latin typeface="Segoe UI"/>
              </a:rPr>
              <a:t>web dashboard · this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03 · CUSTOMER 360 INSIGHTS</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A young, metro-heavy base where the top 10% of customers drive 63% of value</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3</a:t>
            </a:r>
          </a:p>
        </p:txBody>
      </p:sp>
      <p:graphicFrame>
        <p:nvGraphicFramePr>
          <p:cNvPr id="7" name="Chart 6"/>
          <p:cNvGraphicFramePr>
            <a:graphicFrameLocks noGrp="1"/>
          </p:cNvGraphicFramePr>
          <p:nvPr/>
        </p:nvGraphicFramePr>
        <p:xfrm>
          <a:off x="548640" y="1737360"/>
          <a:ext cx="3840480" cy="3291840"/>
        </p:xfrm>
        <a:graphic>
          <a:graphicData uri="http://schemas.openxmlformats.org/drawingml/2006/chart">
            <c:chart xmlns:c="http://schemas.openxmlformats.org/drawingml/2006/chart" r:id="rId3"/>
          </a:graphicData>
        </a:graphic>
      </p:graphicFrame>
      <p:graphicFrame>
        <p:nvGraphicFramePr>
          <p:cNvPr id="8" name="Chart 7"/>
          <p:cNvGraphicFramePr>
            <a:graphicFrameLocks noGrp="1"/>
          </p:cNvGraphicFramePr>
          <p:nvPr/>
        </p:nvGraphicFramePr>
        <p:xfrm>
          <a:off x="4572000" y="1737360"/>
          <a:ext cx="3840480" cy="3291840"/>
        </p:xfrm>
        <a:graphic>
          <a:graphicData uri="http://schemas.openxmlformats.org/drawingml/2006/chart">
            <c:chart xmlns:c="http://schemas.openxmlformats.org/drawingml/2006/chart" r:id="rId4"/>
          </a:graphicData>
        </a:graphic>
      </p:graphicFrame>
      <p:sp>
        <p:nvSpPr>
          <p:cNvPr id="9" name="Rounded Rectangle 8"/>
          <p:cNvSpPr/>
          <p:nvPr/>
        </p:nvSpPr>
        <p:spPr>
          <a:xfrm>
            <a:off x="8686800" y="1737360"/>
            <a:ext cx="2926080" cy="100584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1810512"/>
            <a:ext cx="2651760" cy="502920"/>
          </a:xfrm>
          <a:prstGeom prst="rect">
            <a:avLst/>
          </a:prstGeom>
          <a:noFill/>
        </p:spPr>
        <p:txBody>
          <a:bodyPr wrap="square" anchor="t" lIns="0" rIns="0">
            <a:spAutoFit/>
          </a:bodyPr>
          <a:lstStyle/>
          <a:p>
            <a:pPr algn="l">
              <a:spcAft>
                <a:spcPts val="600"/>
              </a:spcAft>
            </a:pPr>
            <a:r>
              <a:rPr sz="2600" b="1">
                <a:solidFill>
                  <a:srgbClr val="0B0B0B"/>
                </a:solidFill>
                <a:latin typeface="Segoe UI"/>
              </a:rPr>
              <a:t>63%</a:t>
            </a:r>
          </a:p>
        </p:txBody>
      </p:sp>
      <p:sp>
        <p:nvSpPr>
          <p:cNvPr id="11" name="TextBox 10"/>
          <p:cNvSpPr txBox="1"/>
          <p:nvPr/>
        </p:nvSpPr>
        <p:spPr>
          <a:xfrm>
            <a:off x="8869680" y="2304288"/>
            <a:ext cx="2651760" cy="411480"/>
          </a:xfrm>
          <a:prstGeom prst="rect">
            <a:avLst/>
          </a:prstGeom>
          <a:noFill/>
        </p:spPr>
        <p:txBody>
          <a:bodyPr wrap="square" anchor="t" lIns="0" rIns="0">
            <a:spAutoFit/>
          </a:bodyPr>
          <a:lstStyle/>
          <a:p>
            <a:pPr algn="l">
              <a:spcAft>
                <a:spcPts val="600"/>
              </a:spcAft>
            </a:pPr>
            <a:r>
              <a:rPr sz="1100" b="0">
                <a:solidFill>
                  <a:srgbClr val="52514E"/>
                </a:solidFill>
                <a:latin typeface="Segoe UI"/>
              </a:rPr>
              <a:t>of value from the top 10% of customers</a:t>
            </a:r>
          </a:p>
        </p:txBody>
      </p:sp>
      <p:sp>
        <p:nvSpPr>
          <p:cNvPr id="12" name="Rounded Rectangle 11"/>
          <p:cNvSpPr/>
          <p:nvPr/>
        </p:nvSpPr>
        <p:spPr>
          <a:xfrm>
            <a:off x="8686800" y="2880360"/>
            <a:ext cx="2926080" cy="100584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0" y="2953512"/>
            <a:ext cx="2651760" cy="502920"/>
          </a:xfrm>
          <a:prstGeom prst="rect">
            <a:avLst/>
          </a:prstGeom>
          <a:noFill/>
        </p:spPr>
        <p:txBody>
          <a:bodyPr wrap="square" anchor="t" lIns="0" rIns="0">
            <a:spAutoFit/>
          </a:bodyPr>
          <a:lstStyle/>
          <a:p>
            <a:pPr algn="l">
              <a:spcAft>
                <a:spcPts val="600"/>
              </a:spcAft>
            </a:pPr>
            <a:r>
              <a:rPr sz="2600" b="1">
                <a:solidFill>
                  <a:srgbClr val="0B0B0B"/>
                </a:solidFill>
                <a:latin typeface="Segoe UI"/>
              </a:rPr>
              <a:t>27%</a:t>
            </a:r>
          </a:p>
        </p:txBody>
      </p:sp>
      <p:sp>
        <p:nvSpPr>
          <p:cNvPr id="14" name="TextBox 13"/>
          <p:cNvSpPr txBox="1"/>
          <p:nvPr/>
        </p:nvSpPr>
        <p:spPr>
          <a:xfrm>
            <a:off x="8869680" y="3447288"/>
            <a:ext cx="2651760" cy="411480"/>
          </a:xfrm>
          <a:prstGeom prst="rect">
            <a:avLst/>
          </a:prstGeom>
          <a:noFill/>
        </p:spPr>
        <p:txBody>
          <a:bodyPr wrap="square" anchor="t" lIns="0" rIns="0">
            <a:spAutoFit/>
          </a:bodyPr>
          <a:lstStyle/>
          <a:p>
            <a:pPr algn="l">
              <a:spcAft>
                <a:spcPts val="600"/>
              </a:spcAft>
            </a:pPr>
            <a:r>
              <a:rPr sz="1100" b="0">
                <a:solidFill>
                  <a:srgbClr val="52514E"/>
                </a:solidFill>
                <a:latin typeface="Segoe UI"/>
              </a:rPr>
              <a:t>of value from the top 1%</a:t>
            </a:r>
          </a:p>
        </p:txBody>
      </p:sp>
      <p:sp>
        <p:nvSpPr>
          <p:cNvPr id="15" name="Rounded Rectangle 14"/>
          <p:cNvSpPr/>
          <p:nvPr/>
        </p:nvSpPr>
        <p:spPr>
          <a:xfrm>
            <a:off x="8686800" y="4023360"/>
            <a:ext cx="2926080" cy="100584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0" y="4096512"/>
            <a:ext cx="2651760" cy="502920"/>
          </a:xfrm>
          <a:prstGeom prst="rect">
            <a:avLst/>
          </a:prstGeom>
          <a:noFill/>
        </p:spPr>
        <p:txBody>
          <a:bodyPr wrap="square" anchor="t" lIns="0" rIns="0">
            <a:spAutoFit/>
          </a:bodyPr>
          <a:lstStyle/>
          <a:p>
            <a:pPr algn="l">
              <a:spcAft>
                <a:spcPts val="600"/>
              </a:spcAft>
            </a:pPr>
            <a:r>
              <a:rPr sz="2600" b="1">
                <a:solidFill>
                  <a:srgbClr val="0B0B0B"/>
                </a:solidFill>
                <a:latin typeface="Segoe UI"/>
              </a:rPr>
              <a:t>85%</a:t>
            </a:r>
          </a:p>
        </p:txBody>
      </p:sp>
      <p:sp>
        <p:nvSpPr>
          <p:cNvPr id="17" name="TextBox 16"/>
          <p:cNvSpPr txBox="1"/>
          <p:nvPr/>
        </p:nvSpPr>
        <p:spPr>
          <a:xfrm>
            <a:off x="8869680" y="4590288"/>
            <a:ext cx="2651760" cy="411480"/>
          </a:xfrm>
          <a:prstGeom prst="rect">
            <a:avLst/>
          </a:prstGeom>
          <a:noFill/>
        </p:spPr>
        <p:txBody>
          <a:bodyPr wrap="square" anchor="t" lIns="0" rIns="0">
            <a:spAutoFit/>
          </a:bodyPr>
          <a:lstStyle/>
          <a:p>
            <a:pPr algn="l">
              <a:spcAft>
                <a:spcPts val="600"/>
              </a:spcAft>
            </a:pPr>
            <a:r>
              <a:rPr sz="1100" b="0">
                <a:solidFill>
                  <a:srgbClr val="52514E"/>
                </a:solidFill>
                <a:latin typeface="Segoe UI"/>
              </a:rPr>
              <a:t>of customers transacted once</a:t>
            </a:r>
          </a:p>
        </p:txBody>
      </p:sp>
      <p:sp>
        <p:nvSpPr>
          <p:cNvPr id="18" name="TextBox 17"/>
          <p:cNvSpPr txBox="1"/>
          <p:nvPr/>
        </p:nvSpPr>
        <p:spPr>
          <a:xfrm>
            <a:off x="548640" y="5257800"/>
            <a:ext cx="11064240" cy="822960"/>
          </a:xfrm>
          <a:prstGeom prst="rect">
            <a:avLst/>
          </a:prstGeom>
          <a:noFill/>
        </p:spPr>
        <p:txBody>
          <a:bodyPr wrap="square" anchor="t" lIns="0" rIns="0">
            <a:spAutoFit/>
          </a:bodyPr>
          <a:lstStyle/>
          <a:p>
            <a:pPr algn="l">
              <a:spcAft>
                <a:spcPts val="600"/>
              </a:spcAft>
            </a:pPr>
            <a:r>
              <a:rPr sz="1400" b="0">
                <a:solidFill>
                  <a:srgbClr val="52514E"/>
                </a:solidFill>
                <a:latin typeface="Segoe UI"/>
              </a:rPr>
              <a:t>So what: effort pays off unevenly. Protect the top decile with named coverage, and do not judge customers on frequency alone.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04 · CUSTOMER SEGMENTATION</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Engaged Repeat Users: 15% of customers, 28% of value; a 35% tail adds 4%</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4</a:t>
            </a:r>
          </a:p>
        </p:txBody>
      </p:sp>
      <p:graphicFrame>
        <p:nvGraphicFramePr>
          <p:cNvPr id="7" name="Chart 6"/>
          <p:cNvGraphicFramePr>
            <a:graphicFrameLocks noGrp="1"/>
          </p:cNvGraphicFramePr>
          <p:nvPr/>
        </p:nvGraphicFramePr>
        <p:xfrm>
          <a:off x="548640" y="1737360"/>
          <a:ext cx="5120640" cy="4206240"/>
        </p:xfrm>
        <a:graphic>
          <a:graphicData uri="http://schemas.openxmlformats.org/drawingml/2006/chart">
            <c:chart xmlns:c="http://schemas.openxmlformats.org/drawingml/2006/chart" r:id="rId3"/>
          </a:graphicData>
        </a:graphic>
      </p:graphicFrame>
      <p:graphicFrame>
        <p:nvGraphicFramePr>
          <p:cNvPr id="8" name="Table 7"/>
          <p:cNvGraphicFramePr>
            <a:graphicFrameLocks noGrp="1"/>
          </p:cNvGraphicFramePr>
          <p:nvPr/>
        </p:nvGraphicFramePr>
        <p:xfrm>
          <a:off x="5943600" y="1783080"/>
          <a:ext cx="5669279" cy="3950208"/>
        </p:xfrm>
        <a:graphic>
          <a:graphicData uri="http://schemas.openxmlformats.org/drawingml/2006/table">
            <a:tbl>
              <a:tblPr firstRow="1" bandRow="1">
                <a:tableStyleId>{5C22544A-7EE6-4342-B048-85BDC9FD1C3A}</a:tableStyleId>
              </a:tblPr>
              <a:tblGrid>
                <a:gridCol w="1600200"/>
                <a:gridCol w="868680"/>
                <a:gridCol w="731520"/>
                <a:gridCol w="594360"/>
                <a:gridCol w="1874519"/>
              </a:tblGrid>
              <a:tr h="658368">
                <a:tc>
                  <a:txBody>
                    <a:bodyPr wrap="square"/>
                    <a:lstStyle/>
                    <a:p>
                      <a:pPr algn="l"/>
                      <a:r>
                        <a:rPr sz="1000" b="1">
                          <a:solidFill>
                            <a:srgbClr val="52514E"/>
                          </a:solidFill>
                          <a:latin typeface="Segoe UI"/>
                        </a:rPr>
                        <a:t>Segment</a:t>
                      </a:r>
                    </a:p>
                  </a:txBody>
                  <a:tcPr marL="73152" marR="73152" marT="27432" marB="27432" anchor="ctr">
                    <a:solidFill>
                      <a:srgbClr val="F3F2EE"/>
                    </a:solidFill>
                  </a:tcPr>
                </a:tc>
                <a:tc>
                  <a:txBody>
                    <a:bodyPr wrap="square"/>
                    <a:lstStyle/>
                    <a:p>
                      <a:pPr algn="l"/>
                      <a:r>
                        <a:rPr sz="1000" b="1">
                          <a:solidFill>
                            <a:srgbClr val="52514E"/>
                          </a:solidFill>
                          <a:latin typeface="Segoe UI"/>
                        </a:rPr>
                        <a:t>Median bal.</a:t>
                      </a:r>
                    </a:p>
                  </a:txBody>
                  <a:tcPr marL="73152" marR="73152" marT="27432" marB="27432" anchor="ctr">
                    <a:solidFill>
                      <a:srgbClr val="F3F2EE"/>
                    </a:solidFill>
                  </a:tcPr>
                </a:tc>
                <a:tc>
                  <a:txBody>
                    <a:bodyPr wrap="square"/>
                    <a:lstStyle/>
                    <a:p>
                      <a:pPr algn="l"/>
                      <a:r>
                        <a:rPr sz="1000" b="1">
                          <a:solidFill>
                            <a:srgbClr val="52514E"/>
                          </a:solidFill>
                          <a:latin typeface="Segoe UI"/>
                        </a:rPr>
                        <a:t>Txns/cust</a:t>
                      </a:r>
                    </a:p>
                  </a:txBody>
                  <a:tcPr marL="73152" marR="73152" marT="27432" marB="27432" anchor="ctr">
                    <a:solidFill>
                      <a:srgbClr val="F3F2EE"/>
                    </a:solidFill>
                  </a:tcPr>
                </a:tc>
                <a:tc>
                  <a:txBody>
                    <a:bodyPr wrap="square"/>
                    <a:lstStyle/>
                    <a:p>
                      <a:pPr algn="l"/>
                      <a:r>
                        <a:rPr sz="1000" b="1">
                          <a:solidFill>
                            <a:srgbClr val="52514E"/>
                          </a:solidFill>
                          <a:latin typeface="Segoe UI"/>
                        </a:rPr>
                        <a:t>Active</a:t>
                      </a:r>
                    </a:p>
                  </a:txBody>
                  <a:tcPr marL="73152" marR="73152" marT="27432" marB="27432" anchor="ctr">
                    <a:solidFill>
                      <a:srgbClr val="F3F2EE"/>
                    </a:solidFill>
                  </a:tcPr>
                </a:tc>
                <a:tc>
                  <a:txBody>
                    <a:bodyPr wrap="square"/>
                    <a:lstStyle/>
                    <a:p>
                      <a:pPr algn="l"/>
                      <a:r>
                        <a:rPr sz="1000" b="1">
                          <a:solidFill>
                            <a:srgbClr val="52514E"/>
                          </a:solidFill>
                          <a:latin typeface="Segoe UI"/>
                        </a:rPr>
                        <a:t>Action</a:t>
                      </a:r>
                    </a:p>
                  </a:txBody>
                  <a:tcPr marL="73152" marR="73152" marT="27432" marB="27432" anchor="ctr">
                    <a:solidFill>
                      <a:srgbClr val="F3F2EE"/>
                    </a:solidFill>
                  </a:tcPr>
                </a:tc>
              </a:tr>
              <a:tr h="658368">
                <a:tc>
                  <a:txBody>
                    <a:bodyPr wrap="square"/>
                    <a:lstStyle/>
                    <a:p>
                      <a:pPr algn="l"/>
                      <a:r>
                        <a:rPr sz="1000" b="1">
                          <a:solidFill>
                            <a:srgbClr val="2A78D6"/>
                          </a:solidFill>
                          <a:latin typeface="Segoe UI"/>
                        </a:rPr>
                        <a:t>Engaged Repeat Users</a:t>
                      </a:r>
                    </a:p>
                  </a:txBody>
                  <a:tcPr marL="73152" marR="73152" marT="27432" marB="27432" anchor="ctr">
                    <a:solidFill>
                      <a:srgbClr val="FCFCFB"/>
                    </a:solidFill>
                  </a:tcPr>
                </a:tc>
                <a:tc>
                  <a:txBody>
                    <a:bodyPr wrap="square"/>
                    <a:lstStyle/>
                    <a:p>
                      <a:pPr algn="r"/>
                      <a:r>
                        <a:rPr sz="1000" b="0">
                          <a:solidFill>
                            <a:srgbClr val="0B0B0B"/>
                          </a:solidFill>
                          <a:latin typeface="Segoe UI"/>
                        </a:rPr>
                        <a:t>₹29,937</a:t>
                      </a:r>
                    </a:p>
                  </a:txBody>
                  <a:tcPr marL="73152" marR="73152" marT="27432" marB="27432" anchor="ctr">
                    <a:solidFill>
                      <a:srgbClr val="FCFCFB"/>
                    </a:solidFill>
                  </a:tcPr>
                </a:tc>
                <a:tc>
                  <a:txBody>
                    <a:bodyPr wrap="square"/>
                    <a:lstStyle/>
                    <a:p>
                      <a:pPr algn="r"/>
                      <a:r>
                        <a:rPr sz="1000" b="0">
                          <a:solidFill>
                            <a:srgbClr val="0B0B0B"/>
                          </a:solidFill>
                          <a:latin typeface="Segoe UI"/>
                        </a:rPr>
                        <a:t>2.14</a:t>
                      </a:r>
                    </a:p>
                  </a:txBody>
                  <a:tcPr marL="73152" marR="73152" marT="27432" marB="27432" anchor="ctr">
                    <a:solidFill>
                      <a:srgbClr val="FCFCFB"/>
                    </a:solidFill>
                  </a:tcPr>
                </a:tc>
                <a:tc>
                  <a:txBody>
                    <a:bodyPr wrap="square"/>
                    <a:lstStyle/>
                    <a:p>
                      <a:pPr algn="r"/>
                      <a:r>
                        <a:rPr sz="1000" b="0">
                          <a:solidFill>
                            <a:srgbClr val="0B0B0B"/>
                          </a:solidFill>
                          <a:latin typeface="Segoe UI"/>
                        </a:rPr>
                        <a:t>59%</a:t>
                      </a:r>
                    </a:p>
                  </a:txBody>
                  <a:tcPr marL="73152" marR="73152" marT="27432" marB="27432" anchor="ctr">
                    <a:solidFill>
                      <a:srgbClr val="FCFCFB"/>
                    </a:solidFill>
                  </a:tcPr>
                </a:tc>
                <a:tc>
                  <a:txBody>
                    <a:bodyPr wrap="square"/>
                    <a:lstStyle/>
                    <a:p>
                      <a:pPr algn="l"/>
                      <a:r>
                        <a:rPr sz="1000" b="0">
                          <a:solidFill>
                            <a:srgbClr val="0B0B0B"/>
                          </a:solidFill>
                          <a:latin typeface="Segoe UI"/>
                        </a:rPr>
                        <a:t>Deepen the relationship</a:t>
                      </a:r>
                    </a:p>
                  </a:txBody>
                  <a:tcPr marL="73152" marR="73152" marT="27432" marB="27432" anchor="ctr">
                    <a:solidFill>
                      <a:srgbClr val="FCFCFB"/>
                    </a:solidFill>
                  </a:tcPr>
                </a:tc>
              </a:tr>
              <a:tr h="658368">
                <a:tc>
                  <a:txBody>
                    <a:bodyPr wrap="square"/>
                    <a:lstStyle/>
                    <a:p>
                      <a:pPr algn="l"/>
                      <a:r>
                        <a:rPr sz="1000" b="1">
                          <a:solidFill>
                            <a:srgbClr val="EB6834"/>
                          </a:solidFill>
                          <a:latin typeface="Segoe UI"/>
                        </a:rPr>
                        <a:t>Recent One-Time Spenders</a:t>
                      </a:r>
                    </a:p>
                  </a:txBody>
                  <a:tcPr marL="73152" marR="73152" marT="27432" marB="27432" anchor="ctr">
                    <a:solidFill>
                      <a:srgbClr val="FCFCFB"/>
                    </a:solidFill>
                  </a:tcPr>
                </a:tc>
                <a:tc>
                  <a:txBody>
                    <a:bodyPr wrap="square"/>
                    <a:lstStyle/>
                    <a:p>
                      <a:pPr algn="r"/>
                      <a:r>
                        <a:rPr sz="1000" b="0">
                          <a:solidFill>
                            <a:srgbClr val="0B0B0B"/>
                          </a:solidFill>
                          <a:latin typeface="Segoe UI"/>
                        </a:rPr>
                        <a:t>₹29,017</a:t>
                      </a:r>
                    </a:p>
                  </a:txBody>
                  <a:tcPr marL="73152" marR="73152" marT="27432" marB="27432" anchor="ctr">
                    <a:solidFill>
                      <a:srgbClr val="FCFCFB"/>
                    </a:solidFill>
                  </a:tcPr>
                </a:tc>
                <a:tc>
                  <a:txBody>
                    <a:bodyPr wrap="square"/>
                    <a:lstStyle/>
                    <a:p>
                      <a:pPr algn="r"/>
                      <a:r>
                        <a:rPr sz="1000" b="0">
                          <a:solidFill>
                            <a:srgbClr val="0B0B0B"/>
                          </a:solidFill>
                          <a:latin typeface="Segoe UI"/>
                        </a:rPr>
                        <a:t>1.00</a:t>
                      </a:r>
                    </a:p>
                  </a:txBody>
                  <a:tcPr marL="73152" marR="73152" marT="27432" marB="27432" anchor="ctr">
                    <a:solidFill>
                      <a:srgbClr val="FCFCFB"/>
                    </a:solidFill>
                  </a:tcPr>
                </a:tc>
                <a:tc>
                  <a:txBody>
                    <a:bodyPr wrap="square"/>
                    <a:lstStyle/>
                    <a:p>
                      <a:pPr algn="r"/>
                      <a:r>
                        <a:rPr sz="1000" b="0">
                          <a:solidFill>
                            <a:srgbClr val="0B0B0B"/>
                          </a:solidFill>
                          <a:latin typeface="Segoe UI"/>
                        </a:rPr>
                        <a:t>73%</a:t>
                      </a:r>
                    </a:p>
                  </a:txBody>
                  <a:tcPr marL="73152" marR="73152" marT="27432" marB="27432" anchor="ctr">
                    <a:solidFill>
                      <a:srgbClr val="FCFCFB"/>
                    </a:solidFill>
                  </a:tcPr>
                </a:tc>
                <a:tc>
                  <a:txBody>
                    <a:bodyPr wrap="square"/>
                    <a:lstStyle/>
                    <a:p>
                      <a:pPr algn="l"/>
                      <a:r>
                        <a:rPr sz="1000" b="0">
                          <a:solidFill>
                            <a:srgbClr val="0B0B0B"/>
                          </a:solidFill>
                          <a:latin typeface="Segoe UI"/>
                        </a:rPr>
                        <a:t>Convert to repeat use</a:t>
                      </a:r>
                    </a:p>
                  </a:txBody>
                  <a:tcPr marL="73152" marR="73152" marT="27432" marB="27432" anchor="ctr">
                    <a:solidFill>
                      <a:srgbClr val="FCFCFB"/>
                    </a:solidFill>
                  </a:tcPr>
                </a:tc>
              </a:tr>
              <a:tr h="658368">
                <a:tc>
                  <a:txBody>
                    <a:bodyPr wrap="square"/>
                    <a:lstStyle/>
                    <a:p>
                      <a:pPr algn="l"/>
                      <a:r>
                        <a:rPr sz="1000" b="1">
                          <a:solidFill>
                            <a:srgbClr val="1BAF7A"/>
                          </a:solidFill>
                          <a:latin typeface="Segoe UI"/>
                        </a:rPr>
                        <a:t>Lapsed One-Time Spenders</a:t>
                      </a:r>
                    </a:p>
                  </a:txBody>
                  <a:tcPr marL="73152" marR="73152" marT="27432" marB="27432" anchor="ctr">
                    <a:solidFill>
                      <a:srgbClr val="FCFCFB"/>
                    </a:solidFill>
                  </a:tcPr>
                </a:tc>
                <a:tc>
                  <a:txBody>
                    <a:bodyPr wrap="square"/>
                    <a:lstStyle/>
                    <a:p>
                      <a:pPr algn="r"/>
                      <a:r>
                        <a:rPr sz="1000" b="0">
                          <a:solidFill>
                            <a:srgbClr val="0B0B0B"/>
                          </a:solidFill>
                          <a:latin typeface="Segoe UI"/>
                        </a:rPr>
                        <a:t>₹28,730</a:t>
                      </a:r>
                    </a:p>
                  </a:txBody>
                  <a:tcPr marL="73152" marR="73152" marT="27432" marB="27432" anchor="ctr">
                    <a:solidFill>
                      <a:srgbClr val="FCFCFB"/>
                    </a:solidFill>
                  </a:tcPr>
                </a:tc>
                <a:tc>
                  <a:txBody>
                    <a:bodyPr wrap="square"/>
                    <a:lstStyle/>
                    <a:p>
                      <a:pPr algn="r"/>
                      <a:r>
                        <a:rPr sz="1000" b="0">
                          <a:solidFill>
                            <a:srgbClr val="0B0B0B"/>
                          </a:solidFill>
                          <a:latin typeface="Segoe UI"/>
                        </a:rPr>
                        <a:t>1.00</a:t>
                      </a:r>
                    </a:p>
                  </a:txBody>
                  <a:tcPr marL="73152" marR="73152" marT="27432" marB="27432" anchor="ctr">
                    <a:solidFill>
                      <a:srgbClr val="FCFCFB"/>
                    </a:solidFill>
                  </a:tcPr>
                </a:tc>
                <a:tc>
                  <a:txBody>
                    <a:bodyPr wrap="square"/>
                    <a:lstStyle/>
                    <a:p>
                      <a:pPr algn="r"/>
                      <a:r>
                        <a:rPr sz="1000" b="0">
                          <a:solidFill>
                            <a:srgbClr val="0B0B0B"/>
                          </a:solidFill>
                          <a:latin typeface="Segoe UI"/>
                        </a:rPr>
                        <a:t>0%</a:t>
                      </a:r>
                    </a:p>
                  </a:txBody>
                  <a:tcPr marL="73152" marR="73152" marT="27432" marB="27432" anchor="ctr">
                    <a:solidFill>
                      <a:srgbClr val="FCFCFB"/>
                    </a:solidFill>
                  </a:tcPr>
                </a:tc>
                <a:tc>
                  <a:txBody>
                    <a:bodyPr wrap="square"/>
                    <a:lstStyle/>
                    <a:p>
                      <a:pPr algn="l"/>
                      <a:r>
                        <a:rPr sz="1000" b="0">
                          <a:solidFill>
                            <a:srgbClr val="0B0B0B"/>
                          </a:solidFill>
                          <a:latin typeface="Segoe UI"/>
                        </a:rPr>
                        <a:t>Win-back</a:t>
                      </a:r>
                    </a:p>
                  </a:txBody>
                  <a:tcPr marL="73152" marR="73152" marT="27432" marB="27432" anchor="ctr">
                    <a:solidFill>
                      <a:srgbClr val="FCFCFB"/>
                    </a:solidFill>
                  </a:tcPr>
                </a:tc>
              </a:tr>
              <a:tr h="658368">
                <a:tc>
                  <a:txBody>
                    <a:bodyPr wrap="square"/>
                    <a:lstStyle/>
                    <a:p>
                      <a:pPr algn="l"/>
                      <a:r>
                        <a:rPr sz="1000" b="1">
                          <a:solidFill>
                            <a:srgbClr val="EDA100"/>
                          </a:solidFill>
                          <a:latin typeface="Segoe UI"/>
                        </a:rPr>
                        <a:t>Low-Ticket Occasional</a:t>
                      </a:r>
                    </a:p>
                  </a:txBody>
                  <a:tcPr marL="73152" marR="73152" marT="27432" marB="27432" anchor="ctr">
                    <a:solidFill>
                      <a:srgbClr val="FCFCFB"/>
                    </a:solidFill>
                  </a:tcPr>
                </a:tc>
                <a:tc>
                  <a:txBody>
                    <a:bodyPr wrap="square"/>
                    <a:lstStyle/>
                    <a:p>
                      <a:pPr algn="r"/>
                      <a:r>
                        <a:rPr sz="1000" b="0">
                          <a:solidFill>
                            <a:srgbClr val="0B0B0B"/>
                          </a:solidFill>
                          <a:latin typeface="Segoe UI"/>
                        </a:rPr>
                        <a:t>₹12,443</a:t>
                      </a:r>
                    </a:p>
                  </a:txBody>
                  <a:tcPr marL="73152" marR="73152" marT="27432" marB="27432" anchor="ctr">
                    <a:solidFill>
                      <a:srgbClr val="FCFCFB"/>
                    </a:solidFill>
                  </a:tcPr>
                </a:tc>
                <a:tc>
                  <a:txBody>
                    <a:bodyPr wrap="square"/>
                    <a:lstStyle/>
                    <a:p>
                      <a:pPr algn="r"/>
                      <a:r>
                        <a:rPr sz="1000" b="0">
                          <a:solidFill>
                            <a:srgbClr val="0B0B0B"/>
                          </a:solidFill>
                          <a:latin typeface="Segoe UI"/>
                        </a:rPr>
                        <a:t>1.01</a:t>
                      </a:r>
                    </a:p>
                  </a:txBody>
                  <a:tcPr marL="73152" marR="73152" marT="27432" marB="27432" anchor="ctr">
                    <a:solidFill>
                      <a:srgbClr val="FCFCFB"/>
                    </a:solidFill>
                  </a:tcPr>
                </a:tc>
                <a:tc>
                  <a:txBody>
                    <a:bodyPr wrap="square"/>
                    <a:lstStyle/>
                    <a:p>
                      <a:pPr algn="r"/>
                      <a:r>
                        <a:rPr sz="1000" b="0">
                          <a:solidFill>
                            <a:srgbClr val="0B0B0B"/>
                          </a:solidFill>
                          <a:latin typeface="Segoe UI"/>
                        </a:rPr>
                        <a:t>33%</a:t>
                      </a:r>
                    </a:p>
                  </a:txBody>
                  <a:tcPr marL="73152" marR="73152" marT="27432" marB="27432" anchor="ctr">
                    <a:solidFill>
                      <a:srgbClr val="FCFCFB"/>
                    </a:solidFill>
                  </a:tcPr>
                </a:tc>
                <a:tc>
                  <a:txBody>
                    <a:bodyPr wrap="square"/>
                    <a:lstStyle/>
                    <a:p>
                      <a:pPr algn="l"/>
                      <a:r>
                        <a:rPr sz="1000" b="0">
                          <a:solidFill>
                            <a:srgbClr val="0B0B0B"/>
                          </a:solidFill>
                          <a:latin typeface="Segoe UI"/>
                        </a:rPr>
                        <a:t>Low-cost digital nurture only; no RM time</a:t>
                      </a:r>
                    </a:p>
                  </a:txBody>
                  <a:tcPr marL="73152" marR="73152" marT="27432" marB="27432" anchor="ctr">
                    <a:solidFill>
                      <a:srgbClr val="FCFCFB"/>
                    </a:solidFill>
                  </a:tcPr>
                </a:tc>
              </a:tr>
              <a:tr h="658368">
                <a:tc>
                  <a:txBody>
                    <a:bodyPr wrap="square"/>
                    <a:lstStyle/>
                    <a:p>
                      <a:pPr algn="l"/>
                      <a:r>
                        <a:rPr sz="1000" b="1">
                          <a:solidFill>
                            <a:srgbClr val="E87BA4"/>
                          </a:solidFill>
                          <a:latin typeface="Segoe UI"/>
                        </a:rPr>
                        <a:t>Near-Zero Balance</a:t>
                      </a:r>
                    </a:p>
                  </a:txBody>
                  <a:tcPr marL="73152" marR="73152" marT="27432" marB="27432" anchor="ctr">
                    <a:solidFill>
                      <a:srgbClr val="FCFCFB"/>
                    </a:solidFill>
                  </a:tcPr>
                </a:tc>
                <a:tc>
                  <a:txBody>
                    <a:bodyPr wrap="square"/>
                    <a:lstStyle/>
                    <a:p>
                      <a:pPr algn="r"/>
                      <a:r>
                        <a:rPr sz="1000" b="0">
                          <a:solidFill>
                            <a:srgbClr val="0B0B0B"/>
                          </a:solidFill>
                          <a:latin typeface="Segoe UI"/>
                        </a:rPr>
                        <a:t>₹86</a:t>
                      </a:r>
                    </a:p>
                  </a:txBody>
                  <a:tcPr marL="73152" marR="73152" marT="27432" marB="27432" anchor="ctr">
                    <a:solidFill>
                      <a:srgbClr val="FCFCFB"/>
                    </a:solidFill>
                  </a:tcPr>
                </a:tc>
                <a:tc>
                  <a:txBody>
                    <a:bodyPr wrap="square"/>
                    <a:lstStyle/>
                    <a:p>
                      <a:pPr algn="r"/>
                      <a:r>
                        <a:rPr sz="1000" b="0">
                          <a:solidFill>
                            <a:srgbClr val="0B0B0B"/>
                          </a:solidFill>
                          <a:latin typeface="Segoe UI"/>
                        </a:rPr>
                        <a:t>1.01</a:t>
                      </a:r>
                    </a:p>
                  </a:txBody>
                  <a:tcPr marL="73152" marR="73152" marT="27432" marB="27432" anchor="ctr">
                    <a:solidFill>
                      <a:srgbClr val="FCFCFB"/>
                    </a:solidFill>
                  </a:tcPr>
                </a:tc>
                <a:tc>
                  <a:txBody>
                    <a:bodyPr wrap="square"/>
                    <a:lstStyle/>
                    <a:p>
                      <a:pPr algn="r"/>
                      <a:r>
                        <a:rPr sz="1000" b="0">
                          <a:solidFill>
                            <a:srgbClr val="0B0B0B"/>
                          </a:solidFill>
                          <a:latin typeface="Segoe UI"/>
                        </a:rPr>
                        <a:t>29%</a:t>
                      </a:r>
                    </a:p>
                  </a:txBody>
                  <a:tcPr marL="73152" marR="73152" marT="27432" marB="27432" anchor="ctr">
                    <a:solidFill>
                      <a:srgbClr val="FCFCFB"/>
                    </a:solidFill>
                  </a:tcPr>
                </a:tc>
                <a:tc>
                  <a:txBody>
                    <a:bodyPr wrap="square"/>
                    <a:lstStyle/>
                    <a:p>
                      <a:pPr algn="l"/>
                      <a:r>
                        <a:rPr sz="1000" b="0">
                          <a:solidFill>
                            <a:srgbClr val="0B0B0B"/>
                          </a:solidFill>
                          <a:latin typeface="Segoe UI"/>
                        </a:rPr>
                        <a:t>Service check and activation; exclude from cross-sell lists</a:t>
                      </a:r>
                    </a:p>
                  </a:txBody>
                  <a:tcPr marL="73152" marR="73152" marT="27432" marB="27432" anchor="ctr">
                    <a:solidFill>
                      <a:srgbClr val="FCFC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05 · CROSS-SELL OPPORTUNITIES</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Signals are prioritised, not guaranteed: each segment gets a short list of conversations</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5</a:t>
            </a:r>
          </a:p>
        </p:txBody>
      </p:sp>
      <p:graphicFrame>
        <p:nvGraphicFramePr>
          <p:cNvPr id="7" name="Table 6"/>
          <p:cNvGraphicFramePr>
            <a:graphicFrameLocks noGrp="1"/>
          </p:cNvGraphicFramePr>
          <p:nvPr/>
        </p:nvGraphicFramePr>
        <p:xfrm>
          <a:off x="548640" y="1783080"/>
          <a:ext cx="7863840" cy="3291840"/>
        </p:xfrm>
        <a:graphic>
          <a:graphicData uri="http://schemas.openxmlformats.org/drawingml/2006/table">
            <a:tbl>
              <a:tblPr firstRow="1" bandRow="1">
                <a:tableStyleId>{5C22544A-7EE6-4342-B048-85BDC9FD1C3A}</a:tableStyleId>
              </a:tblPr>
              <a:tblGrid>
                <a:gridCol w="2057400"/>
                <a:gridCol w="960120"/>
                <a:gridCol w="960120"/>
                <a:gridCol w="868680"/>
                <a:gridCol w="868680"/>
                <a:gridCol w="914400"/>
                <a:gridCol w="1234440"/>
              </a:tblGrid>
              <a:tr h="548640">
                <a:tc>
                  <a:txBody>
                    <a:bodyPr wrap="square"/>
                    <a:lstStyle/>
                    <a:p>
                      <a:pPr algn="l"/>
                      <a:r>
                        <a:rPr sz="1100" b="1">
                          <a:solidFill>
                            <a:srgbClr val="52514E"/>
                          </a:solidFill>
                          <a:latin typeface="Segoe UI"/>
                        </a:rPr>
                        <a:t>Segment</a:t>
                      </a:r>
                    </a:p>
                  </a:txBody>
                  <a:tcPr marL="73152" marR="73152" marT="27432" marB="27432" anchor="ctr">
                    <a:solidFill>
                      <a:srgbClr val="F3F2EE"/>
                    </a:solidFill>
                  </a:tcPr>
                </a:tc>
                <a:tc>
                  <a:txBody>
                    <a:bodyPr wrap="square"/>
                    <a:lstStyle/>
                    <a:p>
                      <a:pPr algn="l"/>
                      <a:r>
                        <a:rPr sz="1100" b="1">
                          <a:solidFill>
                            <a:srgbClr val="52514E"/>
                          </a:solidFill>
                          <a:latin typeface="Segoe UI"/>
                        </a:rPr>
                        <a:t>Investment / MF</a:t>
                      </a:r>
                    </a:p>
                  </a:txBody>
                  <a:tcPr marL="73152" marR="73152" marT="27432" marB="27432" anchor="ctr">
                    <a:solidFill>
                      <a:srgbClr val="F3F2EE"/>
                    </a:solidFill>
                  </a:tcPr>
                </a:tc>
                <a:tc>
                  <a:txBody>
                    <a:bodyPr wrap="square"/>
                    <a:lstStyle/>
                    <a:p>
                      <a:pPr algn="l"/>
                      <a:r>
                        <a:rPr sz="1100" b="1">
                          <a:solidFill>
                            <a:srgbClr val="52514E"/>
                          </a:solidFill>
                          <a:latin typeface="Segoe UI"/>
                        </a:rPr>
                        <a:t>Premium account</a:t>
                      </a:r>
                    </a:p>
                  </a:txBody>
                  <a:tcPr marL="73152" marR="73152" marT="27432" marB="27432" anchor="ctr">
                    <a:solidFill>
                      <a:srgbClr val="F3F2EE"/>
                    </a:solidFill>
                  </a:tcPr>
                </a:tc>
                <a:tc>
                  <a:txBody>
                    <a:bodyPr wrap="square"/>
                    <a:lstStyle/>
                    <a:p>
                      <a:pPr algn="l"/>
                      <a:r>
                        <a:rPr sz="1100" b="1">
                          <a:solidFill>
                            <a:srgbClr val="52514E"/>
                          </a:solidFill>
                          <a:latin typeface="Segoe UI"/>
                        </a:rPr>
                        <a:t>Credit card</a:t>
                      </a:r>
                    </a:p>
                  </a:txBody>
                  <a:tcPr marL="73152" marR="73152" marT="27432" marB="27432" anchor="ctr">
                    <a:solidFill>
                      <a:srgbClr val="F3F2EE"/>
                    </a:solidFill>
                  </a:tcPr>
                </a:tc>
                <a:tc>
                  <a:txBody>
                    <a:bodyPr wrap="square"/>
                    <a:lstStyle/>
                    <a:p>
                      <a:pPr algn="l"/>
                      <a:r>
                        <a:rPr sz="1100" b="1">
                          <a:solidFill>
                            <a:srgbClr val="52514E"/>
                          </a:solidFill>
                          <a:latin typeface="Segoe UI"/>
                        </a:rPr>
                        <a:t>Insurance</a:t>
                      </a:r>
                    </a:p>
                  </a:txBody>
                  <a:tcPr marL="73152" marR="73152" marT="27432" marB="27432" anchor="ctr">
                    <a:solidFill>
                      <a:srgbClr val="F3F2EE"/>
                    </a:solidFill>
                  </a:tcPr>
                </a:tc>
                <a:tc>
                  <a:txBody>
                    <a:bodyPr wrap="square"/>
                    <a:lstStyle/>
                    <a:p>
                      <a:pPr algn="l"/>
                      <a:r>
                        <a:rPr sz="1100" b="1">
                          <a:solidFill>
                            <a:srgbClr val="52514E"/>
                          </a:solidFill>
                          <a:latin typeface="Segoe UI"/>
                        </a:rPr>
                        <a:t>Personal loan*</a:t>
                      </a:r>
                    </a:p>
                  </a:txBody>
                  <a:tcPr marL="73152" marR="73152" marT="27432" marB="27432" anchor="ctr">
                    <a:solidFill>
                      <a:srgbClr val="F3F2EE"/>
                    </a:solidFill>
                  </a:tcPr>
                </a:tc>
                <a:tc>
                  <a:txBody>
                    <a:bodyPr wrap="square"/>
                    <a:lstStyle/>
                    <a:p>
                      <a:pPr algn="l"/>
                      <a:r>
                        <a:rPr sz="1100" b="1">
                          <a:solidFill>
                            <a:srgbClr val="52514E"/>
                          </a:solidFill>
                          <a:latin typeface="Segoe UI"/>
                        </a:rPr>
                        <a:t>Re-engagement</a:t>
                      </a:r>
                    </a:p>
                  </a:txBody>
                  <a:tcPr marL="73152" marR="73152" marT="27432" marB="27432" anchor="ctr">
                    <a:solidFill>
                      <a:srgbClr val="F3F2EE"/>
                    </a:solidFill>
                  </a:tcPr>
                </a:tc>
              </a:tr>
              <a:tr h="548640">
                <a:tc>
                  <a:txBody>
                    <a:bodyPr wrap="square"/>
                    <a:lstStyle/>
                    <a:p>
                      <a:pPr algn="l"/>
                      <a:r>
                        <a:rPr sz="1100" b="0">
                          <a:solidFill>
                            <a:srgbClr val="0B0B0B"/>
                          </a:solidFill>
                          <a:latin typeface="Segoe UI"/>
                        </a:rPr>
                        <a:t>Engaged Repeat Users</a:t>
                      </a:r>
                    </a:p>
                  </a:txBody>
                  <a:tcPr marL="73152" marR="73152" marT="27432" marB="27432" anchor="ctr">
                    <a:solidFill>
                      <a:srgbClr val="FCFCFB"/>
                    </a:solidFill>
                  </a:tcPr>
                </a:tc>
                <a:tc>
                  <a:txBody>
                    <a:bodyPr wrap="square"/>
                    <a:lstStyle/>
                    <a:p>
                      <a:pPr algn="r"/>
                      <a:r>
                        <a:rPr sz="1100" b="0">
                          <a:solidFill>
                            <a:srgbClr val="0B0B0B"/>
                          </a:solidFill>
                          <a:latin typeface="Segoe UI"/>
                        </a:rPr>
                        <a:t>32%</a:t>
                      </a:r>
                    </a:p>
                  </a:txBody>
                  <a:tcPr marL="73152" marR="73152" marT="27432" marB="27432" anchor="ctr">
                    <a:solidFill>
                      <a:srgbClr val="6694CC"/>
                    </a:solidFill>
                  </a:tcPr>
                </a:tc>
                <a:tc>
                  <a:txBody>
                    <a:bodyPr wrap="square"/>
                    <a:lstStyle/>
                    <a:p>
                      <a:pPr algn="r"/>
                      <a:r>
                        <a:rPr sz="1100" b="0">
                          <a:solidFill>
                            <a:srgbClr val="0B0B0B"/>
                          </a:solidFill>
                          <a:latin typeface="Segoe UI"/>
                        </a:rPr>
                        <a:t>11%</a:t>
                      </a:r>
                    </a:p>
                  </a:txBody>
                  <a:tcPr marL="73152" marR="73152" marT="27432" marB="27432" anchor="ctr">
                    <a:solidFill>
                      <a:srgbClr val="A9C7EB"/>
                    </a:solidFill>
                  </a:tcPr>
                </a:tc>
                <a:tc>
                  <a:txBody>
                    <a:bodyPr wrap="square"/>
                    <a:lstStyle/>
                    <a:p>
                      <a:pPr algn="r"/>
                      <a:r>
                        <a:rPr sz="1100" b="0">
                          <a:solidFill>
                            <a:srgbClr val="FFFFFF"/>
                          </a:solidFill>
                          <a:latin typeface="Segoe UI"/>
                        </a:rPr>
                        <a:t>53%</a:t>
                      </a:r>
                    </a:p>
                  </a:txBody>
                  <a:tcPr marL="73152" marR="73152" marT="27432" marB="27432" anchor="ctr">
                    <a:solidFill>
                      <a:srgbClr val="2260AD"/>
                    </a:solidFill>
                  </a:tcPr>
                </a:tc>
                <a:tc>
                  <a:txBody>
                    <a:bodyPr wrap="square"/>
                    <a:lstStyle/>
                    <a:p>
                      <a:pPr algn="r"/>
                      <a:r>
                        <a:rPr sz="1100" b="0">
                          <a:solidFill>
                            <a:srgbClr val="0B0B0B"/>
                          </a:solidFill>
                          <a:latin typeface="Segoe UI"/>
                        </a:rPr>
                        <a:t>29%</a:t>
                      </a:r>
                    </a:p>
                  </a:txBody>
                  <a:tcPr marL="73152" marR="73152" marT="27432" marB="27432" anchor="ctr">
                    <a:solidFill>
                      <a:srgbClr val="6F9BD0"/>
                    </a:solidFill>
                  </a:tcPr>
                </a:tc>
                <a:tc>
                  <a:txBody>
                    <a:bodyPr wrap="square"/>
                    <a:lstStyle/>
                    <a:p>
                      <a:pPr algn="r"/>
                      <a:r>
                        <a:rPr sz="1100" b="0">
                          <a:solidFill>
                            <a:srgbClr val="0B0B0B"/>
                          </a:solidFill>
                          <a:latin typeface="Segoe UI"/>
                        </a:rPr>
                        <a:t>11%</a:t>
                      </a:r>
                    </a:p>
                  </a:txBody>
                  <a:tcPr marL="73152" marR="73152" marT="27432" marB="27432" anchor="ctr">
                    <a:solidFill>
                      <a:srgbClr val="A9C7EB"/>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r>
              <a:tr h="548640">
                <a:tc>
                  <a:txBody>
                    <a:bodyPr wrap="square"/>
                    <a:lstStyle/>
                    <a:p>
                      <a:pPr algn="l"/>
                      <a:r>
                        <a:rPr sz="1100" b="0">
                          <a:solidFill>
                            <a:srgbClr val="0B0B0B"/>
                          </a:solidFill>
                          <a:latin typeface="Segoe UI"/>
                        </a:rPr>
                        <a:t>Recent One-Time Spenders</a:t>
                      </a:r>
                    </a:p>
                  </a:txBody>
                  <a:tcPr marL="73152" marR="73152" marT="27432" marB="27432" anchor="ctr">
                    <a:solidFill>
                      <a:srgbClr val="FCFCFB"/>
                    </a:solidFill>
                  </a:tcPr>
                </a:tc>
                <a:tc>
                  <a:txBody>
                    <a:bodyPr wrap="square"/>
                    <a:lstStyle/>
                    <a:p>
                      <a:pPr algn="r"/>
                      <a:r>
                        <a:rPr sz="1100" b="0">
                          <a:solidFill>
                            <a:srgbClr val="0B0B0B"/>
                          </a:solidFill>
                          <a:latin typeface="Segoe UI"/>
                        </a:rPr>
                        <a:t>21%</a:t>
                      </a:r>
                    </a:p>
                  </a:txBody>
                  <a:tcPr marL="73152" marR="73152" marT="27432" marB="27432" anchor="ctr">
                    <a:solidFill>
                      <a:srgbClr val="89AEDC"/>
                    </a:solidFill>
                  </a:tcPr>
                </a:tc>
                <a:tc>
                  <a:txBody>
                    <a:bodyPr wrap="square"/>
                    <a:lstStyle/>
                    <a:p>
                      <a:pPr algn="r"/>
                      <a:r>
                        <a:rPr sz="1100" b="0">
                          <a:solidFill>
                            <a:srgbClr val="0B0B0B"/>
                          </a:solidFill>
                          <a:latin typeface="Segoe UI"/>
                        </a:rPr>
                        <a:t>14%</a:t>
                      </a:r>
                    </a:p>
                  </a:txBody>
                  <a:tcPr marL="73152" marR="73152" marT="27432" marB="27432" anchor="ctr">
                    <a:solidFill>
                      <a:srgbClr val="9FBFE6"/>
                    </a:solidFill>
                  </a:tcPr>
                </a:tc>
                <a:tc>
                  <a:txBody>
                    <a:bodyPr wrap="square"/>
                    <a:lstStyle/>
                    <a:p>
                      <a:pPr algn="r"/>
                      <a:r>
                        <a:rPr sz="1100" b="0">
                          <a:solidFill>
                            <a:srgbClr val="0B0B0B"/>
                          </a:solidFill>
                          <a:latin typeface="Segoe UI"/>
                        </a:rPr>
                        <a:t>35%</a:t>
                      </a:r>
                    </a:p>
                  </a:txBody>
                  <a:tcPr marL="73152" marR="73152" marT="27432" marB="27432" anchor="ctr">
                    <a:solidFill>
                      <a:srgbClr val="5C8CC8"/>
                    </a:solidFill>
                  </a:tcPr>
                </a:tc>
                <a:tc>
                  <a:txBody>
                    <a:bodyPr wrap="square"/>
                    <a:lstStyle/>
                    <a:p>
                      <a:pPr algn="r"/>
                      <a:r>
                        <a:rPr sz="1100" b="0">
                          <a:solidFill>
                            <a:srgbClr val="0B0B0B"/>
                          </a:solidFill>
                          <a:latin typeface="Segoe UI"/>
                        </a:rPr>
                        <a:t>32%</a:t>
                      </a:r>
                    </a:p>
                  </a:txBody>
                  <a:tcPr marL="73152" marR="73152" marT="27432" marB="27432" anchor="ctr">
                    <a:solidFill>
                      <a:srgbClr val="6694CC"/>
                    </a:solidFill>
                  </a:tcPr>
                </a:tc>
                <a:tc>
                  <a:txBody>
                    <a:bodyPr wrap="square"/>
                    <a:lstStyle/>
                    <a:p>
                      <a:pPr algn="r"/>
                      <a:r>
                        <a:rPr sz="1100" b="0">
                          <a:solidFill>
                            <a:srgbClr val="0B0B0B"/>
                          </a:solidFill>
                          <a:latin typeface="Segoe UI"/>
                        </a:rPr>
                        <a:t>12%</a:t>
                      </a:r>
                    </a:p>
                  </a:txBody>
                  <a:tcPr marL="73152" marR="73152" marT="27432" marB="27432" anchor="ctr">
                    <a:solidFill>
                      <a:srgbClr val="A6C4E9"/>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r>
              <a:tr h="548640">
                <a:tc>
                  <a:txBody>
                    <a:bodyPr wrap="square"/>
                    <a:lstStyle/>
                    <a:p>
                      <a:pPr algn="l"/>
                      <a:r>
                        <a:rPr sz="1100" b="0">
                          <a:solidFill>
                            <a:srgbClr val="0B0B0B"/>
                          </a:solidFill>
                          <a:latin typeface="Segoe UI"/>
                        </a:rPr>
                        <a:t>Lapsed One-Time Spenders</a:t>
                      </a:r>
                    </a:p>
                  </a:txBody>
                  <a:tcPr marL="73152" marR="73152" marT="27432" marB="27432" anchor="ctr">
                    <a:solidFill>
                      <a:srgbClr val="FCFCFB"/>
                    </a:solidFill>
                  </a:tcPr>
                </a:tc>
                <a:tc>
                  <a:txBody>
                    <a:bodyPr wrap="square"/>
                    <a:lstStyle/>
                    <a:p>
                      <a:pPr algn="r"/>
                      <a:r>
                        <a:rPr sz="1100" b="0">
                          <a:solidFill>
                            <a:srgbClr val="0B0B0B"/>
                          </a:solidFill>
                          <a:latin typeface="Segoe UI"/>
                        </a:rPr>
                        <a:t>21%</a:t>
                      </a:r>
                    </a:p>
                  </a:txBody>
                  <a:tcPr marL="73152" marR="73152" marT="27432" marB="27432" anchor="ctr">
                    <a:solidFill>
                      <a:srgbClr val="89AEDC"/>
                    </a:solidFill>
                  </a:tcPr>
                </a:tc>
                <a:tc>
                  <a:txBody>
                    <a:bodyPr wrap="square"/>
                    <a:lstStyle/>
                    <a:p>
                      <a:pPr algn="r"/>
                      <a:r>
                        <a:rPr sz="1100" b="0">
                          <a:solidFill>
                            <a:srgbClr val="0B0B0B"/>
                          </a:solidFill>
                          <a:latin typeface="Segoe UI"/>
                        </a:rPr>
                        <a:t>14%</a:t>
                      </a:r>
                    </a:p>
                  </a:txBody>
                  <a:tcPr marL="73152" marR="73152" marT="27432" marB="27432" anchor="ctr">
                    <a:solidFill>
                      <a:srgbClr val="9FBFE6"/>
                    </a:solidFill>
                  </a:tcPr>
                </a:tc>
                <a:tc>
                  <a:txBody>
                    <a:bodyPr wrap="square"/>
                    <a:lstStyle/>
                    <a:p>
                      <a:pPr algn="r"/>
                      <a:r>
                        <a:rPr sz="1100" b="0">
                          <a:solidFill>
                            <a:srgbClr val="0B0B0B"/>
                          </a:solidFill>
                          <a:latin typeface="Segoe UI"/>
                        </a:rPr>
                        <a:t>35%</a:t>
                      </a:r>
                    </a:p>
                  </a:txBody>
                  <a:tcPr marL="73152" marR="73152" marT="27432" marB="27432" anchor="ctr">
                    <a:solidFill>
                      <a:srgbClr val="5C8CC8"/>
                    </a:solidFill>
                  </a:tcPr>
                </a:tc>
                <a:tc>
                  <a:txBody>
                    <a:bodyPr wrap="square"/>
                    <a:lstStyle/>
                    <a:p>
                      <a:pPr algn="r"/>
                      <a:r>
                        <a:rPr sz="1100" b="0">
                          <a:solidFill>
                            <a:srgbClr val="0B0B0B"/>
                          </a:solidFill>
                          <a:latin typeface="Segoe UI"/>
                        </a:rPr>
                        <a:t>31%</a:t>
                      </a:r>
                    </a:p>
                  </a:txBody>
                  <a:tcPr marL="73152" marR="73152" marT="27432" marB="27432" anchor="ctr">
                    <a:solidFill>
                      <a:srgbClr val="6996CD"/>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33%</a:t>
                      </a:r>
                    </a:p>
                  </a:txBody>
                  <a:tcPr marL="73152" marR="73152" marT="27432" marB="27432" anchor="ctr">
                    <a:solidFill>
                      <a:srgbClr val="6291CB"/>
                    </a:solidFill>
                  </a:tcPr>
                </a:tc>
              </a:tr>
              <a:tr h="548640">
                <a:tc>
                  <a:txBody>
                    <a:bodyPr wrap="square"/>
                    <a:lstStyle/>
                    <a:p>
                      <a:pPr algn="l"/>
                      <a:r>
                        <a:rPr sz="1100" b="0">
                          <a:solidFill>
                            <a:srgbClr val="0B0B0B"/>
                          </a:solidFill>
                          <a:latin typeface="Segoe UI"/>
                        </a:rPr>
                        <a:t>Low-Ticket Occasional</a:t>
                      </a:r>
                    </a:p>
                  </a:txBody>
                  <a:tcPr marL="73152" marR="73152" marT="27432" marB="27432" anchor="ctr">
                    <a:solidFill>
                      <a:srgbClr val="FCFCFB"/>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5%</a:t>
                      </a:r>
                    </a:p>
                  </a:txBody>
                  <a:tcPr marL="73152" marR="73152" marT="27432" marB="27432" anchor="ctr">
                    <a:solidFill>
                      <a:srgbClr val="BCD5F3"/>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14%</a:t>
                      </a:r>
                    </a:p>
                  </a:txBody>
                  <a:tcPr marL="73152" marR="73152" marT="27432" marB="27432" anchor="ctr">
                    <a:solidFill>
                      <a:srgbClr val="9FBFE6"/>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8%</a:t>
                      </a:r>
                    </a:p>
                  </a:txBody>
                  <a:tcPr marL="73152" marR="73152" marT="27432" marB="27432" anchor="ctr">
                    <a:solidFill>
                      <a:srgbClr val="B3CEEF"/>
                    </a:solidFill>
                  </a:tcPr>
                </a:tc>
              </a:tr>
              <a:tr h="548640">
                <a:tc>
                  <a:txBody>
                    <a:bodyPr wrap="square"/>
                    <a:lstStyle/>
                    <a:p>
                      <a:pPr algn="l"/>
                      <a:r>
                        <a:rPr sz="1100" b="0">
                          <a:solidFill>
                            <a:srgbClr val="0B0B0B"/>
                          </a:solidFill>
                          <a:latin typeface="Segoe UI"/>
                        </a:rPr>
                        <a:t>Near-Zero Balance</a:t>
                      </a:r>
                    </a:p>
                  </a:txBody>
                  <a:tcPr marL="73152" marR="73152" marT="27432" marB="27432" anchor="ctr">
                    <a:solidFill>
                      <a:srgbClr val="FCFCFB"/>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c>
                  <a:txBody>
                    <a:bodyPr wrap="square"/>
                    <a:lstStyle/>
                    <a:p>
                      <a:pPr algn="r"/>
                      <a:r>
                        <a:rPr sz="1100" b="0">
                          <a:solidFill>
                            <a:srgbClr val="0B0B0B"/>
                          </a:solidFill>
                          <a:latin typeface="Segoe UI"/>
                        </a:rPr>
                        <a:t>16%</a:t>
                      </a:r>
                    </a:p>
                  </a:txBody>
                  <a:tcPr marL="73152" marR="73152" marT="27432" marB="27432" anchor="ctr">
                    <a:solidFill>
                      <a:srgbClr val="99BBE3"/>
                    </a:solidFill>
                  </a:tcPr>
                </a:tc>
                <a:tc>
                  <a:txBody>
                    <a:bodyPr wrap="square"/>
                    <a:lstStyle/>
                    <a:p>
                      <a:pPr algn="r"/>
                      <a:r>
                        <a:rPr sz="1100" b="0">
                          <a:solidFill>
                            <a:srgbClr val="0B0B0B"/>
                          </a:solidFill>
                          <a:latin typeface="Segoe UI"/>
                        </a:rPr>
                        <a:t>0%</a:t>
                      </a:r>
                    </a:p>
                  </a:txBody>
                  <a:tcPr marL="73152" marR="73152" marT="27432" marB="27432" anchor="ctr">
                    <a:solidFill>
                      <a:srgbClr val="FCFCFB"/>
                    </a:solidFill>
                  </a:tcPr>
                </a:tc>
              </a:tr>
            </a:tbl>
          </a:graphicData>
        </a:graphic>
      </p:graphicFrame>
      <p:sp>
        <p:nvSpPr>
          <p:cNvPr id="8" name="TextBox 7"/>
          <p:cNvSpPr txBox="1"/>
          <p:nvPr/>
        </p:nvSpPr>
        <p:spPr>
          <a:xfrm>
            <a:off x="548640" y="5166360"/>
            <a:ext cx="7863840" cy="365760"/>
          </a:xfrm>
          <a:prstGeom prst="rect">
            <a:avLst/>
          </a:prstGeom>
          <a:noFill/>
        </p:spPr>
        <p:txBody>
          <a:bodyPr wrap="square" anchor="t" lIns="0" rIns="0">
            <a:spAutoFit/>
          </a:bodyPr>
          <a:lstStyle/>
          <a:p>
            <a:pPr algn="l">
              <a:spcAft>
                <a:spcPts val="600"/>
              </a:spcAft>
            </a:pPr>
            <a:r>
              <a:rPr sz="1000" b="0">
                <a:solidFill>
                  <a:srgbClr val="898781"/>
                </a:solidFill>
                <a:latin typeface="Segoe UI"/>
              </a:rPr>
              <a:t>Share of each segment carrying each signal. *Personal loan = demand signal only; no credit judgement.</a:t>
            </a:r>
          </a:p>
        </p:txBody>
      </p:sp>
      <p:sp>
        <p:nvSpPr>
          <p:cNvPr id="9" name="Rounded Rectangle 8"/>
          <p:cNvSpPr/>
          <p:nvPr/>
        </p:nvSpPr>
        <p:spPr>
          <a:xfrm>
            <a:off x="8778240" y="1783080"/>
            <a:ext cx="2834640" cy="105156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15400" y="2057400"/>
            <a:ext cx="502920" cy="502920"/>
          </a:xfrm>
          <a:prstGeom prst="roundRect">
            <a:avLst>
              <a:gd name="adj" fmla="val 8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0" y="2112264"/>
            <a:ext cx="502920" cy="411480"/>
          </a:xfrm>
          <a:prstGeom prst="rect">
            <a:avLst/>
          </a:prstGeom>
          <a:noFill/>
        </p:spPr>
        <p:txBody>
          <a:bodyPr wrap="square" anchor="t" lIns="0" rIns="0">
            <a:spAutoFit/>
          </a:bodyPr>
          <a:lstStyle/>
          <a:p>
            <a:pPr algn="ctr">
              <a:spcAft>
                <a:spcPts val="600"/>
              </a:spcAft>
            </a:pPr>
            <a:r>
              <a:rPr sz="1600" b="1">
                <a:solidFill>
                  <a:srgbClr val="FFFFFF"/>
                </a:solidFill>
                <a:latin typeface="Segoe UI"/>
              </a:rPr>
              <a:t>A</a:t>
            </a:r>
          </a:p>
        </p:txBody>
      </p:sp>
      <p:sp>
        <p:nvSpPr>
          <p:cNvPr id="12" name="TextBox 11"/>
          <p:cNvSpPr txBox="1"/>
          <p:nvPr/>
        </p:nvSpPr>
        <p:spPr>
          <a:xfrm>
            <a:off x="9555480" y="1892808"/>
            <a:ext cx="2011680" cy="457200"/>
          </a:xfrm>
          <a:prstGeom prst="rect">
            <a:avLst/>
          </a:prstGeom>
          <a:noFill/>
        </p:spPr>
        <p:txBody>
          <a:bodyPr wrap="square" anchor="t" lIns="0" rIns="0">
            <a:spAutoFit/>
          </a:bodyPr>
          <a:lstStyle/>
          <a:p>
            <a:pPr algn="l">
              <a:spcAft>
                <a:spcPts val="600"/>
              </a:spcAft>
            </a:pPr>
            <a:r>
              <a:rPr sz="2000" b="1">
                <a:solidFill>
                  <a:srgbClr val="0B0B0B"/>
                </a:solidFill>
                <a:latin typeface="Segoe UI"/>
              </a:rPr>
              <a:t>42,077</a:t>
            </a:r>
          </a:p>
        </p:txBody>
      </p:sp>
      <p:sp>
        <p:nvSpPr>
          <p:cNvPr id="13" name="TextBox 12"/>
          <p:cNvSpPr txBox="1"/>
          <p:nvPr/>
        </p:nvSpPr>
        <p:spPr>
          <a:xfrm>
            <a:off x="9555480" y="2350008"/>
            <a:ext cx="2011680" cy="457200"/>
          </a:xfrm>
          <a:prstGeom prst="rect">
            <a:avLst/>
          </a:prstGeom>
          <a:noFill/>
        </p:spPr>
        <p:txBody>
          <a:bodyPr wrap="square" anchor="t" lIns="0" rIns="0">
            <a:spAutoFit/>
          </a:bodyPr>
          <a:lstStyle/>
          <a:p>
            <a:pPr algn="l">
              <a:spcAft>
                <a:spcPts val="600"/>
              </a:spcAft>
            </a:pPr>
            <a:r>
              <a:rPr sz="1100" b="0">
                <a:solidFill>
                  <a:srgbClr val="52514E"/>
                </a:solidFill>
                <a:latin typeface="Segoe UI"/>
              </a:rPr>
              <a:t>₹1,721 Cr addressable</a:t>
            </a:r>
          </a:p>
        </p:txBody>
      </p:sp>
      <p:sp>
        <p:nvSpPr>
          <p:cNvPr id="14" name="Rounded Rectangle 13"/>
          <p:cNvSpPr/>
          <p:nvPr/>
        </p:nvSpPr>
        <p:spPr>
          <a:xfrm>
            <a:off x="8778240" y="3017520"/>
            <a:ext cx="2834640" cy="105156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15400" y="3291840"/>
            <a:ext cx="502920" cy="502920"/>
          </a:xfrm>
          <a:prstGeom prst="roundRect">
            <a:avLst>
              <a:gd name="adj" fmla="val 8000"/>
            </a:avLst>
          </a:prstGeom>
          <a:solidFill>
            <a:srgbClr val="256A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15400" y="3346704"/>
            <a:ext cx="502920" cy="411480"/>
          </a:xfrm>
          <a:prstGeom prst="rect">
            <a:avLst/>
          </a:prstGeom>
          <a:noFill/>
        </p:spPr>
        <p:txBody>
          <a:bodyPr wrap="square" anchor="t" lIns="0" rIns="0">
            <a:spAutoFit/>
          </a:bodyPr>
          <a:lstStyle/>
          <a:p>
            <a:pPr algn="ctr">
              <a:spcAft>
                <a:spcPts val="600"/>
              </a:spcAft>
            </a:pPr>
            <a:r>
              <a:rPr sz="1600" b="1">
                <a:solidFill>
                  <a:srgbClr val="FFFFFF"/>
                </a:solidFill>
                <a:latin typeface="Segoe UI"/>
              </a:rPr>
              <a:t>B</a:t>
            </a:r>
          </a:p>
        </p:txBody>
      </p:sp>
      <p:sp>
        <p:nvSpPr>
          <p:cNvPr id="17" name="TextBox 16"/>
          <p:cNvSpPr txBox="1"/>
          <p:nvPr/>
        </p:nvSpPr>
        <p:spPr>
          <a:xfrm>
            <a:off x="9555480" y="3127248"/>
            <a:ext cx="2011680" cy="457200"/>
          </a:xfrm>
          <a:prstGeom prst="rect">
            <a:avLst/>
          </a:prstGeom>
          <a:noFill/>
        </p:spPr>
        <p:txBody>
          <a:bodyPr wrap="square" anchor="t" lIns="0" rIns="0">
            <a:spAutoFit/>
          </a:bodyPr>
          <a:lstStyle/>
          <a:p>
            <a:pPr algn="l">
              <a:spcAft>
                <a:spcPts val="600"/>
              </a:spcAft>
            </a:pPr>
            <a:r>
              <a:rPr sz="2000" b="1">
                <a:solidFill>
                  <a:srgbClr val="0B0B0B"/>
                </a:solidFill>
                <a:latin typeface="Segoe UI"/>
              </a:rPr>
              <a:t>126,231</a:t>
            </a:r>
          </a:p>
        </p:txBody>
      </p:sp>
      <p:sp>
        <p:nvSpPr>
          <p:cNvPr id="18" name="TextBox 17"/>
          <p:cNvSpPr txBox="1"/>
          <p:nvPr/>
        </p:nvSpPr>
        <p:spPr>
          <a:xfrm>
            <a:off x="9555480" y="3584448"/>
            <a:ext cx="2011680" cy="457200"/>
          </a:xfrm>
          <a:prstGeom prst="rect">
            <a:avLst/>
          </a:prstGeom>
          <a:noFill/>
        </p:spPr>
        <p:txBody>
          <a:bodyPr wrap="square" anchor="t" lIns="0" rIns="0">
            <a:spAutoFit/>
          </a:bodyPr>
          <a:lstStyle/>
          <a:p>
            <a:pPr algn="l">
              <a:spcAft>
                <a:spcPts val="600"/>
              </a:spcAft>
            </a:pPr>
            <a:r>
              <a:rPr sz="1100" b="0">
                <a:solidFill>
                  <a:srgbClr val="52514E"/>
                </a:solidFill>
                <a:latin typeface="Segoe UI"/>
              </a:rPr>
              <a:t>₹3,718 Cr addressable</a:t>
            </a:r>
          </a:p>
        </p:txBody>
      </p:sp>
      <p:sp>
        <p:nvSpPr>
          <p:cNvPr id="19" name="Rounded Rectangle 18"/>
          <p:cNvSpPr/>
          <p:nvPr/>
        </p:nvSpPr>
        <p:spPr>
          <a:xfrm>
            <a:off x="8778240" y="4251960"/>
            <a:ext cx="2834640" cy="105156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15400" y="4526280"/>
            <a:ext cx="502920" cy="502920"/>
          </a:xfrm>
          <a:prstGeom prst="roundRect">
            <a:avLst>
              <a:gd name="adj" fmla="val 8000"/>
            </a:avLst>
          </a:prstGeom>
          <a:solidFill>
            <a:srgbClr val="559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4581144"/>
            <a:ext cx="502920" cy="411480"/>
          </a:xfrm>
          <a:prstGeom prst="rect">
            <a:avLst/>
          </a:prstGeom>
          <a:noFill/>
        </p:spPr>
        <p:txBody>
          <a:bodyPr wrap="square" anchor="t" lIns="0" rIns="0">
            <a:spAutoFit/>
          </a:bodyPr>
          <a:lstStyle/>
          <a:p>
            <a:pPr algn="ctr">
              <a:spcAft>
                <a:spcPts val="600"/>
              </a:spcAft>
            </a:pPr>
            <a:r>
              <a:rPr sz="1600" b="1">
                <a:solidFill>
                  <a:srgbClr val="FFFFFF"/>
                </a:solidFill>
                <a:latin typeface="Segoe UI"/>
              </a:rPr>
              <a:t>C</a:t>
            </a:r>
          </a:p>
        </p:txBody>
      </p:sp>
      <p:sp>
        <p:nvSpPr>
          <p:cNvPr id="22" name="TextBox 21"/>
          <p:cNvSpPr txBox="1"/>
          <p:nvPr/>
        </p:nvSpPr>
        <p:spPr>
          <a:xfrm>
            <a:off x="9555480" y="4361688"/>
            <a:ext cx="2011680" cy="457200"/>
          </a:xfrm>
          <a:prstGeom prst="rect">
            <a:avLst/>
          </a:prstGeom>
          <a:noFill/>
        </p:spPr>
        <p:txBody>
          <a:bodyPr wrap="square" anchor="t" lIns="0" rIns="0">
            <a:spAutoFit/>
          </a:bodyPr>
          <a:lstStyle/>
          <a:p>
            <a:pPr algn="l">
              <a:spcAft>
                <a:spcPts val="600"/>
              </a:spcAft>
            </a:pPr>
            <a:r>
              <a:rPr sz="2000" b="1">
                <a:solidFill>
                  <a:srgbClr val="0B0B0B"/>
                </a:solidFill>
                <a:latin typeface="Segoe UI"/>
              </a:rPr>
              <a:t>252,463</a:t>
            </a:r>
          </a:p>
        </p:txBody>
      </p:sp>
      <p:sp>
        <p:nvSpPr>
          <p:cNvPr id="23" name="TextBox 22"/>
          <p:cNvSpPr txBox="1"/>
          <p:nvPr/>
        </p:nvSpPr>
        <p:spPr>
          <a:xfrm>
            <a:off x="9555480" y="4818888"/>
            <a:ext cx="2011680" cy="457200"/>
          </a:xfrm>
          <a:prstGeom prst="rect">
            <a:avLst/>
          </a:prstGeom>
          <a:noFill/>
        </p:spPr>
        <p:txBody>
          <a:bodyPr wrap="square" anchor="t" lIns="0" rIns="0">
            <a:spAutoFit/>
          </a:bodyPr>
          <a:lstStyle/>
          <a:p>
            <a:pPr algn="l">
              <a:spcAft>
                <a:spcPts val="600"/>
              </a:spcAft>
            </a:pPr>
            <a:r>
              <a:rPr sz="1100" b="0">
                <a:solidFill>
                  <a:srgbClr val="52514E"/>
                </a:solidFill>
                <a:latin typeface="Segoe UI"/>
              </a:rPr>
              <a:t>₹3,513 Cr addressable</a:t>
            </a:r>
          </a:p>
        </p:txBody>
      </p:sp>
      <p:sp>
        <p:nvSpPr>
          <p:cNvPr id="24" name="TextBox 23"/>
          <p:cNvSpPr txBox="1"/>
          <p:nvPr/>
        </p:nvSpPr>
        <p:spPr>
          <a:xfrm>
            <a:off x="8778240" y="5486400"/>
            <a:ext cx="2834640" cy="640080"/>
          </a:xfrm>
          <a:prstGeom prst="rect">
            <a:avLst/>
          </a:prstGeom>
          <a:noFill/>
        </p:spPr>
        <p:txBody>
          <a:bodyPr wrap="square" anchor="t" lIns="0" rIns="0">
            <a:spAutoFit/>
          </a:bodyPr>
          <a:lstStyle/>
          <a:p>
            <a:pPr algn="l">
              <a:spcAft>
                <a:spcPts val="600"/>
              </a:spcAft>
            </a:pPr>
            <a:r>
              <a:rPr sz="1000" b="0">
                <a:solidFill>
                  <a:srgbClr val="52514E"/>
                </a:solidFill>
                <a:latin typeface="Segoe UI"/>
              </a:rPr>
              <a:t>Weights stress-tested ±10 pts: 84-100% of the top 1,000 unchanged.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06 · DASHBOARD</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A manager can answer five questions on one screen</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6</a:t>
            </a:r>
          </a:p>
        </p:txBody>
      </p:sp>
      <p:pic>
        <p:nvPicPr>
          <p:cNvPr id="7" name="Picture 6" descr="dashboard_manager_crop.png"/>
          <p:cNvPicPr>
            <a:picLocks noChangeAspect="1"/>
          </p:cNvPicPr>
          <p:nvPr/>
        </p:nvPicPr>
        <p:blipFill>
          <a:blip r:embed="rId3"/>
          <a:stretch>
            <a:fillRect/>
          </a:stretch>
        </p:blipFill>
        <p:spPr>
          <a:xfrm>
            <a:off x="548640" y="1691640"/>
            <a:ext cx="9513593" cy="4480560"/>
          </a:xfrm>
          <a:prstGeom prst="rect">
            <a:avLst/>
          </a:prstGeom>
          <a:ln>
            <a:solidFill>
              <a:srgbClr val="E1E0D9"/>
            </a:solidFill>
          </a:ln>
        </p:spPr>
      </p:pic>
      <p:sp>
        <p:nvSpPr>
          <p:cNvPr id="8" name="TextBox 7"/>
          <p:cNvSpPr txBox="1"/>
          <p:nvPr/>
        </p:nvSpPr>
        <p:spPr>
          <a:xfrm>
            <a:off x="10336553" y="1783080"/>
            <a:ext cx="1306502" cy="822960"/>
          </a:xfrm>
          <a:prstGeom prst="rect">
            <a:avLst/>
          </a:prstGeom>
          <a:noFill/>
        </p:spPr>
        <p:txBody>
          <a:bodyPr wrap="square" anchor="t" lIns="0" rIns="0">
            <a:spAutoFit/>
          </a:bodyPr>
          <a:lstStyle/>
          <a:p>
            <a:pPr algn="l">
              <a:spcAft>
                <a:spcPts val="600"/>
              </a:spcAft>
            </a:pPr>
            <a:r>
              <a:rPr sz="1300" b="1">
                <a:solidFill>
                  <a:srgbClr val="2A78D6"/>
                </a:solidFill>
                <a:latin typeface="Segoe UI"/>
              </a:rPr>
              <a:t>Who</a:t>
            </a:r>
          </a:p>
          <a:p>
            <a:pPr algn="l">
              <a:spcAft>
                <a:spcPts val="600"/>
              </a:spcAft>
            </a:pPr>
            <a:r>
              <a:rPr sz="1300" b="0">
                <a:solidFill>
                  <a:srgbClr val="52514E"/>
                </a:solidFill>
                <a:latin typeface="Segoe UI"/>
              </a:rPr>
              <a:t>ranked list, masked IDs</a:t>
            </a:r>
          </a:p>
        </p:txBody>
      </p:sp>
      <p:sp>
        <p:nvSpPr>
          <p:cNvPr id="9" name="TextBox 8"/>
          <p:cNvSpPr txBox="1"/>
          <p:nvPr/>
        </p:nvSpPr>
        <p:spPr>
          <a:xfrm>
            <a:off x="10336553" y="2651760"/>
            <a:ext cx="1306502" cy="822960"/>
          </a:xfrm>
          <a:prstGeom prst="rect">
            <a:avLst/>
          </a:prstGeom>
          <a:noFill/>
        </p:spPr>
        <p:txBody>
          <a:bodyPr wrap="square" anchor="t" lIns="0" rIns="0">
            <a:spAutoFit/>
          </a:bodyPr>
          <a:lstStyle/>
          <a:p>
            <a:pPr algn="l">
              <a:spcAft>
                <a:spcPts val="600"/>
              </a:spcAft>
            </a:pPr>
            <a:r>
              <a:rPr sz="1300" b="1">
                <a:solidFill>
                  <a:srgbClr val="2A78D6"/>
                </a:solidFill>
                <a:latin typeface="Segoe UI"/>
              </a:rPr>
              <a:t>Why</a:t>
            </a:r>
          </a:p>
          <a:p>
            <a:pPr algn="l">
              <a:spcAft>
                <a:spcPts val="600"/>
              </a:spcAft>
            </a:pPr>
            <a:r>
              <a:rPr sz="1300" b="0">
                <a:solidFill>
                  <a:srgbClr val="52514E"/>
                </a:solidFill>
                <a:latin typeface="Segoe UI"/>
              </a:rPr>
              <a:t>balance, activity, recency in words</a:t>
            </a:r>
          </a:p>
        </p:txBody>
      </p:sp>
      <p:sp>
        <p:nvSpPr>
          <p:cNvPr id="10" name="TextBox 9"/>
          <p:cNvSpPr txBox="1"/>
          <p:nvPr/>
        </p:nvSpPr>
        <p:spPr>
          <a:xfrm>
            <a:off x="10336553" y="3520439"/>
            <a:ext cx="1306502" cy="822960"/>
          </a:xfrm>
          <a:prstGeom prst="rect">
            <a:avLst/>
          </a:prstGeom>
          <a:noFill/>
        </p:spPr>
        <p:txBody>
          <a:bodyPr wrap="square" anchor="t" lIns="0" rIns="0">
            <a:spAutoFit/>
          </a:bodyPr>
          <a:lstStyle/>
          <a:p>
            <a:pPr algn="l">
              <a:spcAft>
                <a:spcPts val="600"/>
              </a:spcAft>
            </a:pPr>
            <a:r>
              <a:rPr sz="1300" b="1">
                <a:solidFill>
                  <a:srgbClr val="2A78D6"/>
                </a:solidFill>
                <a:latin typeface="Segoe UI"/>
              </a:rPr>
              <a:t>What</a:t>
            </a:r>
          </a:p>
          <a:p>
            <a:pPr algn="l">
              <a:spcAft>
                <a:spcPts val="600"/>
              </a:spcAft>
            </a:pPr>
            <a:r>
              <a:rPr sz="1300" b="0">
                <a:solidFill>
                  <a:srgbClr val="52514E"/>
                </a:solidFill>
                <a:latin typeface="Segoe UI"/>
              </a:rPr>
              <a:t>driving product theme</a:t>
            </a:r>
          </a:p>
        </p:txBody>
      </p:sp>
      <p:sp>
        <p:nvSpPr>
          <p:cNvPr id="11" name="TextBox 10"/>
          <p:cNvSpPr txBox="1"/>
          <p:nvPr/>
        </p:nvSpPr>
        <p:spPr>
          <a:xfrm>
            <a:off x="10336553" y="4389120"/>
            <a:ext cx="1306502" cy="822960"/>
          </a:xfrm>
          <a:prstGeom prst="rect">
            <a:avLst/>
          </a:prstGeom>
          <a:noFill/>
        </p:spPr>
        <p:txBody>
          <a:bodyPr wrap="square" anchor="t" lIns="0" rIns="0">
            <a:spAutoFit/>
          </a:bodyPr>
          <a:lstStyle/>
          <a:p>
            <a:pPr algn="l">
              <a:spcAft>
                <a:spcPts val="600"/>
              </a:spcAft>
            </a:pPr>
            <a:r>
              <a:rPr sz="1300" b="1">
                <a:solidFill>
                  <a:srgbClr val="2A78D6"/>
                </a:solidFill>
                <a:latin typeface="Segoe UI"/>
              </a:rPr>
              <a:t>Where</a:t>
            </a:r>
          </a:p>
          <a:p>
            <a:pPr algn="l">
              <a:spcAft>
                <a:spcPts val="600"/>
              </a:spcAft>
            </a:pPr>
            <a:r>
              <a:rPr sz="1300" b="0">
                <a:solidFill>
                  <a:srgbClr val="52514E"/>
                </a:solidFill>
                <a:latin typeface="Segoe UI"/>
              </a:rPr>
              <a:t>city filter and column</a:t>
            </a:r>
          </a:p>
        </p:txBody>
      </p:sp>
      <p:sp>
        <p:nvSpPr>
          <p:cNvPr id="12" name="TextBox 11"/>
          <p:cNvSpPr txBox="1"/>
          <p:nvPr/>
        </p:nvSpPr>
        <p:spPr>
          <a:xfrm>
            <a:off x="10336553" y="5257800"/>
            <a:ext cx="1306502" cy="822960"/>
          </a:xfrm>
          <a:prstGeom prst="rect">
            <a:avLst/>
          </a:prstGeom>
          <a:noFill/>
        </p:spPr>
        <p:txBody>
          <a:bodyPr wrap="square" anchor="t" lIns="0" rIns="0">
            <a:spAutoFit/>
          </a:bodyPr>
          <a:lstStyle/>
          <a:p>
            <a:pPr algn="l">
              <a:spcAft>
                <a:spcPts val="600"/>
              </a:spcAft>
            </a:pPr>
            <a:r>
              <a:rPr sz="1300" b="1">
                <a:solidFill>
                  <a:srgbClr val="2A78D6"/>
                </a:solidFill>
                <a:latin typeface="Segoe UI"/>
              </a:rPr>
              <a:t>How large</a:t>
            </a:r>
          </a:p>
          <a:p>
            <a:pPr algn="l">
              <a:spcAft>
                <a:spcPts val="600"/>
              </a:spcAft>
            </a:pPr>
            <a:r>
              <a:rPr sz="1300" b="0">
                <a:solidFill>
                  <a:srgbClr val="52514E"/>
                </a:solidFill>
                <a:latin typeface="Segoe UI"/>
              </a:rPr>
              <a:t>addressable balance and tier count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07 · KEY BUSINESS INSIGHTS</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What we found, why it matters, what to do</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7</a:t>
            </a:r>
          </a:p>
        </p:txBody>
      </p:sp>
      <p:sp>
        <p:nvSpPr>
          <p:cNvPr id="7" name="Rounded Rectangle 6"/>
          <p:cNvSpPr/>
          <p:nvPr/>
        </p:nvSpPr>
        <p:spPr>
          <a:xfrm>
            <a:off x="548640" y="1783080"/>
            <a:ext cx="3520440" cy="201168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65960"/>
            <a:ext cx="3108960" cy="548640"/>
          </a:xfrm>
          <a:prstGeom prst="rect">
            <a:avLst/>
          </a:prstGeom>
          <a:noFill/>
        </p:spPr>
        <p:txBody>
          <a:bodyPr wrap="square" anchor="t" lIns="0" rIns="0">
            <a:spAutoFit/>
          </a:bodyPr>
          <a:lstStyle/>
          <a:p>
            <a:pPr algn="l">
              <a:spcAft>
                <a:spcPts val="600"/>
              </a:spcAft>
            </a:pPr>
            <a:r>
              <a:rPr sz="1500" b="1">
                <a:solidFill>
                  <a:srgbClr val="0B0B0B"/>
                </a:solidFill>
                <a:latin typeface="Segoe UI"/>
              </a:rPr>
              <a:t>Value is concentrated</a:t>
            </a:r>
          </a:p>
        </p:txBody>
      </p:sp>
      <p:sp>
        <p:nvSpPr>
          <p:cNvPr id="9" name="TextBox 8"/>
          <p:cNvSpPr txBox="1"/>
          <p:nvPr/>
        </p:nvSpPr>
        <p:spPr>
          <a:xfrm>
            <a:off x="777240" y="2560320"/>
            <a:ext cx="3108960" cy="548640"/>
          </a:xfrm>
          <a:prstGeom prst="rect">
            <a:avLst/>
          </a:prstGeom>
          <a:noFill/>
        </p:spPr>
        <p:txBody>
          <a:bodyPr wrap="square" anchor="t" lIns="0" rIns="0">
            <a:spAutoFit/>
          </a:bodyPr>
          <a:lstStyle/>
          <a:p>
            <a:pPr algn="l">
              <a:spcAft>
                <a:spcPts val="600"/>
              </a:spcAft>
            </a:pPr>
            <a:r>
              <a:rPr sz="1200" b="0">
                <a:solidFill>
                  <a:srgbClr val="52514E"/>
                </a:solidFill>
                <a:latin typeface="Segoe UI"/>
              </a:rPr>
              <a:t>Top 10% of customers → 63% of value</a:t>
            </a:r>
          </a:p>
        </p:txBody>
      </p:sp>
      <p:sp>
        <p:nvSpPr>
          <p:cNvPr id="10" name="TextBox 9"/>
          <p:cNvSpPr txBox="1"/>
          <p:nvPr/>
        </p:nvSpPr>
        <p:spPr>
          <a:xfrm>
            <a:off x="777240" y="3154680"/>
            <a:ext cx="3108960" cy="548640"/>
          </a:xfrm>
          <a:prstGeom prst="rect">
            <a:avLst/>
          </a:prstGeom>
          <a:noFill/>
        </p:spPr>
        <p:txBody>
          <a:bodyPr wrap="square" anchor="t" lIns="0" rIns="0">
            <a:spAutoFit/>
          </a:bodyPr>
          <a:lstStyle/>
          <a:p>
            <a:pPr algn="l">
              <a:spcAft>
                <a:spcPts val="600"/>
              </a:spcAft>
            </a:pPr>
            <a:r>
              <a:rPr sz="1200" b="1">
                <a:solidFill>
                  <a:srgbClr val="2A78D6"/>
                </a:solidFill>
                <a:latin typeface="Segoe UI"/>
              </a:rPr>
              <a:t>→ </a:t>
            </a:r>
            <a:r>
              <a:rPr sz="1200" b="1">
                <a:solidFill>
                  <a:srgbClr val="0B0B0B"/>
                </a:solidFill>
                <a:latin typeface="Segoe UI"/>
              </a:rPr>
              <a:t>Named RM coverage for the top decile</a:t>
            </a:r>
          </a:p>
        </p:txBody>
      </p:sp>
      <p:sp>
        <p:nvSpPr>
          <p:cNvPr id="11" name="Rounded Rectangle 10"/>
          <p:cNvSpPr/>
          <p:nvPr/>
        </p:nvSpPr>
        <p:spPr>
          <a:xfrm>
            <a:off x="4297679" y="1783080"/>
            <a:ext cx="3520440" cy="201168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79" y="1965960"/>
            <a:ext cx="3108960" cy="548640"/>
          </a:xfrm>
          <a:prstGeom prst="rect">
            <a:avLst/>
          </a:prstGeom>
          <a:noFill/>
        </p:spPr>
        <p:txBody>
          <a:bodyPr wrap="square" anchor="t" lIns="0" rIns="0">
            <a:spAutoFit/>
          </a:bodyPr>
          <a:lstStyle/>
          <a:p>
            <a:pPr algn="l">
              <a:spcAft>
                <a:spcPts val="600"/>
              </a:spcAft>
            </a:pPr>
            <a:r>
              <a:rPr sz="1500" b="1">
                <a:solidFill>
                  <a:srgbClr val="0B0B0B"/>
                </a:solidFill>
                <a:latin typeface="Segoe UI"/>
              </a:rPr>
              <a:t>Engaged Repeat Users punch above weight</a:t>
            </a:r>
          </a:p>
        </p:txBody>
      </p:sp>
      <p:sp>
        <p:nvSpPr>
          <p:cNvPr id="13" name="TextBox 12"/>
          <p:cNvSpPr txBox="1"/>
          <p:nvPr/>
        </p:nvSpPr>
        <p:spPr>
          <a:xfrm>
            <a:off x="4526279" y="2560320"/>
            <a:ext cx="3108960" cy="548640"/>
          </a:xfrm>
          <a:prstGeom prst="rect">
            <a:avLst/>
          </a:prstGeom>
          <a:noFill/>
        </p:spPr>
        <p:txBody>
          <a:bodyPr wrap="square" anchor="t" lIns="0" rIns="0">
            <a:spAutoFit/>
          </a:bodyPr>
          <a:lstStyle/>
          <a:p>
            <a:pPr algn="l">
              <a:spcAft>
                <a:spcPts val="600"/>
              </a:spcAft>
            </a:pPr>
            <a:r>
              <a:rPr sz="1200" b="0">
                <a:solidFill>
                  <a:srgbClr val="52514E"/>
                </a:solidFill>
                <a:latin typeface="Segoe UI"/>
              </a:rPr>
              <a:t>15% of customers, 28% of value</a:t>
            </a:r>
          </a:p>
        </p:txBody>
      </p:sp>
      <p:sp>
        <p:nvSpPr>
          <p:cNvPr id="14" name="TextBox 13"/>
          <p:cNvSpPr txBox="1"/>
          <p:nvPr/>
        </p:nvSpPr>
        <p:spPr>
          <a:xfrm>
            <a:off x="4526279" y="3154680"/>
            <a:ext cx="3108960" cy="548640"/>
          </a:xfrm>
          <a:prstGeom prst="rect">
            <a:avLst/>
          </a:prstGeom>
          <a:noFill/>
        </p:spPr>
        <p:txBody>
          <a:bodyPr wrap="square" anchor="t" lIns="0" rIns="0">
            <a:spAutoFit/>
          </a:bodyPr>
          <a:lstStyle/>
          <a:p>
            <a:pPr algn="l">
              <a:spcAft>
                <a:spcPts val="600"/>
              </a:spcAft>
            </a:pPr>
            <a:r>
              <a:rPr sz="1200" b="1">
                <a:solidFill>
                  <a:srgbClr val="2A78D6"/>
                </a:solidFill>
                <a:latin typeface="Segoe UI"/>
              </a:rPr>
              <a:t>→ </a:t>
            </a:r>
            <a:r>
              <a:rPr sz="1200" b="1">
                <a:solidFill>
                  <a:srgbClr val="0B0B0B"/>
                </a:solidFill>
                <a:latin typeface="Segoe UI"/>
              </a:rPr>
              <a:t>Deepen: needs review, cards, investments</a:t>
            </a:r>
          </a:p>
        </p:txBody>
      </p:sp>
      <p:sp>
        <p:nvSpPr>
          <p:cNvPr id="15" name="Rounded Rectangle 14"/>
          <p:cNvSpPr/>
          <p:nvPr/>
        </p:nvSpPr>
        <p:spPr>
          <a:xfrm>
            <a:off x="8046719" y="1783080"/>
            <a:ext cx="3520440" cy="201168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9" y="1965960"/>
            <a:ext cx="3108960" cy="548640"/>
          </a:xfrm>
          <a:prstGeom prst="rect">
            <a:avLst/>
          </a:prstGeom>
          <a:noFill/>
        </p:spPr>
        <p:txBody>
          <a:bodyPr wrap="square" anchor="t" lIns="0" rIns="0">
            <a:spAutoFit/>
          </a:bodyPr>
          <a:lstStyle/>
          <a:p>
            <a:pPr algn="l">
              <a:spcAft>
                <a:spcPts val="600"/>
              </a:spcAft>
            </a:pPr>
            <a:r>
              <a:rPr sz="1500" b="1">
                <a:solidFill>
                  <a:srgbClr val="0B0B0B"/>
                </a:solidFill>
                <a:latin typeface="Segoe UI"/>
              </a:rPr>
              <a:t>A third of value is going quiet</a:t>
            </a:r>
          </a:p>
        </p:txBody>
      </p:sp>
      <p:sp>
        <p:nvSpPr>
          <p:cNvPr id="17" name="TextBox 16"/>
          <p:cNvSpPr txBox="1"/>
          <p:nvPr/>
        </p:nvSpPr>
        <p:spPr>
          <a:xfrm>
            <a:off x="8275319" y="2560320"/>
            <a:ext cx="3108960" cy="548640"/>
          </a:xfrm>
          <a:prstGeom prst="rect">
            <a:avLst/>
          </a:prstGeom>
          <a:noFill/>
        </p:spPr>
        <p:txBody>
          <a:bodyPr wrap="square" anchor="t" lIns="0" rIns="0">
            <a:spAutoFit/>
          </a:bodyPr>
          <a:lstStyle/>
          <a:p>
            <a:pPr algn="l">
              <a:spcAft>
                <a:spcPts val="600"/>
              </a:spcAft>
            </a:pPr>
            <a:r>
              <a:rPr sz="1200" b="0">
                <a:solidFill>
                  <a:srgbClr val="52514E"/>
                </a:solidFill>
                <a:latin typeface="Segoe UI"/>
              </a:rPr>
              <a:t>Lapsed One-Time Spenders: 34% of value, not seen 2+ weeks</a:t>
            </a:r>
          </a:p>
        </p:txBody>
      </p:sp>
      <p:sp>
        <p:nvSpPr>
          <p:cNvPr id="18" name="TextBox 17"/>
          <p:cNvSpPr txBox="1"/>
          <p:nvPr/>
        </p:nvSpPr>
        <p:spPr>
          <a:xfrm>
            <a:off x="8275319" y="3154680"/>
            <a:ext cx="3108960" cy="548640"/>
          </a:xfrm>
          <a:prstGeom prst="rect">
            <a:avLst/>
          </a:prstGeom>
          <a:noFill/>
        </p:spPr>
        <p:txBody>
          <a:bodyPr wrap="square" anchor="t" lIns="0" rIns="0">
            <a:spAutoFit/>
          </a:bodyPr>
          <a:lstStyle/>
          <a:p>
            <a:pPr algn="l">
              <a:spcAft>
                <a:spcPts val="600"/>
              </a:spcAft>
            </a:pPr>
            <a:r>
              <a:rPr sz="1200" b="1">
                <a:solidFill>
                  <a:srgbClr val="2A78D6"/>
                </a:solidFill>
                <a:latin typeface="Segoe UI"/>
              </a:rPr>
              <a:t>→ </a:t>
            </a:r>
            <a:r>
              <a:rPr sz="1200" b="1">
                <a:solidFill>
                  <a:srgbClr val="0B0B0B"/>
                </a:solidFill>
                <a:latin typeface="Segoe UI"/>
              </a:rPr>
              <a:t>Re-engagement call before any sale</a:t>
            </a:r>
          </a:p>
        </p:txBody>
      </p:sp>
      <p:sp>
        <p:nvSpPr>
          <p:cNvPr id="19" name="Rounded Rectangle 18"/>
          <p:cNvSpPr/>
          <p:nvPr/>
        </p:nvSpPr>
        <p:spPr>
          <a:xfrm>
            <a:off x="548640" y="4023360"/>
            <a:ext cx="3520440" cy="201168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206240"/>
            <a:ext cx="3108960" cy="548640"/>
          </a:xfrm>
          <a:prstGeom prst="rect">
            <a:avLst/>
          </a:prstGeom>
          <a:noFill/>
        </p:spPr>
        <p:txBody>
          <a:bodyPr wrap="square" anchor="t" lIns="0" rIns="0">
            <a:spAutoFit/>
          </a:bodyPr>
          <a:lstStyle/>
          <a:p>
            <a:pPr algn="l">
              <a:spcAft>
                <a:spcPts val="600"/>
              </a:spcAft>
            </a:pPr>
            <a:r>
              <a:rPr sz="1500" b="1">
                <a:solidFill>
                  <a:srgbClr val="0B0B0B"/>
                </a:solidFill>
                <a:latin typeface="Segoe UI"/>
              </a:rPr>
              <a:t>The tail is cheap to serve, not to call</a:t>
            </a:r>
          </a:p>
        </p:txBody>
      </p:sp>
      <p:sp>
        <p:nvSpPr>
          <p:cNvPr id="21" name="TextBox 20"/>
          <p:cNvSpPr txBox="1"/>
          <p:nvPr/>
        </p:nvSpPr>
        <p:spPr>
          <a:xfrm>
            <a:off x="777240" y="4800600"/>
            <a:ext cx="3108960" cy="548640"/>
          </a:xfrm>
          <a:prstGeom prst="rect">
            <a:avLst/>
          </a:prstGeom>
          <a:noFill/>
        </p:spPr>
        <p:txBody>
          <a:bodyPr wrap="square" anchor="t" lIns="0" rIns="0">
            <a:spAutoFit/>
          </a:bodyPr>
          <a:lstStyle/>
          <a:p>
            <a:pPr algn="l">
              <a:spcAft>
                <a:spcPts val="600"/>
              </a:spcAft>
            </a:pPr>
            <a:r>
              <a:rPr sz="1200" b="0">
                <a:solidFill>
                  <a:srgbClr val="52514E"/>
                </a:solidFill>
                <a:latin typeface="Segoe UI"/>
              </a:rPr>
              <a:t>35% of customers, 4.4% of value</a:t>
            </a:r>
          </a:p>
        </p:txBody>
      </p:sp>
      <p:sp>
        <p:nvSpPr>
          <p:cNvPr id="22" name="TextBox 21"/>
          <p:cNvSpPr txBox="1"/>
          <p:nvPr/>
        </p:nvSpPr>
        <p:spPr>
          <a:xfrm>
            <a:off x="777240" y="5394960"/>
            <a:ext cx="3108960" cy="548640"/>
          </a:xfrm>
          <a:prstGeom prst="rect">
            <a:avLst/>
          </a:prstGeom>
          <a:noFill/>
        </p:spPr>
        <p:txBody>
          <a:bodyPr wrap="square" anchor="t" lIns="0" rIns="0">
            <a:spAutoFit/>
          </a:bodyPr>
          <a:lstStyle/>
          <a:p>
            <a:pPr algn="l">
              <a:spcAft>
                <a:spcPts val="600"/>
              </a:spcAft>
            </a:pPr>
            <a:r>
              <a:rPr sz="1200" b="1">
                <a:solidFill>
                  <a:srgbClr val="2A78D6"/>
                </a:solidFill>
                <a:latin typeface="Segoe UI"/>
              </a:rPr>
              <a:t>→ </a:t>
            </a:r>
            <a:r>
              <a:rPr sz="1200" b="1">
                <a:solidFill>
                  <a:srgbClr val="0B0B0B"/>
                </a:solidFill>
                <a:latin typeface="Segoe UI"/>
              </a:rPr>
              <a:t>Digital nurture; activation checks</a:t>
            </a:r>
          </a:p>
        </p:txBody>
      </p:sp>
      <p:sp>
        <p:nvSpPr>
          <p:cNvPr id="23" name="Rounded Rectangle 22"/>
          <p:cNvSpPr/>
          <p:nvPr/>
        </p:nvSpPr>
        <p:spPr>
          <a:xfrm>
            <a:off x="4297679" y="4023360"/>
            <a:ext cx="3520440" cy="201168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79" y="4206240"/>
            <a:ext cx="3108960" cy="548640"/>
          </a:xfrm>
          <a:prstGeom prst="rect">
            <a:avLst/>
          </a:prstGeom>
          <a:noFill/>
        </p:spPr>
        <p:txBody>
          <a:bodyPr wrap="square" anchor="t" lIns="0" rIns="0">
            <a:spAutoFit/>
          </a:bodyPr>
          <a:lstStyle/>
          <a:p>
            <a:pPr algn="l">
              <a:spcAft>
                <a:spcPts val="600"/>
              </a:spcAft>
            </a:pPr>
            <a:r>
              <a:rPr sz="1500" b="1">
                <a:solidFill>
                  <a:srgbClr val="0B0B0B"/>
                </a:solidFill>
                <a:latin typeface="Segoe UI"/>
              </a:rPr>
              <a:t>Behaviour beats demographics</a:t>
            </a:r>
          </a:p>
        </p:txBody>
      </p:sp>
      <p:sp>
        <p:nvSpPr>
          <p:cNvPr id="25" name="TextBox 24"/>
          <p:cNvSpPr txBox="1"/>
          <p:nvPr/>
        </p:nvSpPr>
        <p:spPr>
          <a:xfrm>
            <a:off x="4526279" y="4800600"/>
            <a:ext cx="3108960" cy="548640"/>
          </a:xfrm>
          <a:prstGeom prst="rect">
            <a:avLst/>
          </a:prstGeom>
          <a:noFill/>
        </p:spPr>
        <p:txBody>
          <a:bodyPr wrap="square" anchor="t" lIns="0" rIns="0">
            <a:spAutoFit/>
          </a:bodyPr>
          <a:lstStyle/>
          <a:p>
            <a:pPr algn="l">
              <a:spcAft>
                <a:spcPts val="600"/>
              </a:spcAft>
            </a:pPr>
            <a:r>
              <a:rPr sz="1200" b="0">
                <a:solidFill>
                  <a:srgbClr val="52514E"/>
                </a:solidFill>
                <a:latin typeface="Segoe UI"/>
              </a:rPr>
              <a:t>Gender and age explain little (V = 0.07, ε² = 0.06)</a:t>
            </a:r>
          </a:p>
        </p:txBody>
      </p:sp>
      <p:sp>
        <p:nvSpPr>
          <p:cNvPr id="26" name="TextBox 25"/>
          <p:cNvSpPr txBox="1"/>
          <p:nvPr/>
        </p:nvSpPr>
        <p:spPr>
          <a:xfrm>
            <a:off x="4526279" y="5394960"/>
            <a:ext cx="3108960" cy="548640"/>
          </a:xfrm>
          <a:prstGeom prst="rect">
            <a:avLst/>
          </a:prstGeom>
          <a:noFill/>
        </p:spPr>
        <p:txBody>
          <a:bodyPr wrap="square" anchor="t" lIns="0" rIns="0">
            <a:spAutoFit/>
          </a:bodyPr>
          <a:lstStyle/>
          <a:p>
            <a:pPr algn="l">
              <a:spcAft>
                <a:spcPts val="600"/>
              </a:spcAft>
            </a:pPr>
            <a:r>
              <a:rPr sz="1200" b="1">
                <a:solidFill>
                  <a:srgbClr val="2A78D6"/>
                </a:solidFill>
                <a:latin typeface="Segoe UI"/>
              </a:rPr>
              <a:t>→ </a:t>
            </a:r>
            <a:r>
              <a:rPr sz="1200" b="1">
                <a:solidFill>
                  <a:srgbClr val="0B0B0B"/>
                </a:solidFill>
                <a:latin typeface="Segoe UI"/>
              </a:rPr>
              <a:t>Target on behaviour, never on gender</a:t>
            </a:r>
          </a:p>
        </p:txBody>
      </p:sp>
      <p:sp>
        <p:nvSpPr>
          <p:cNvPr id="27" name="Rounded Rectangle 26"/>
          <p:cNvSpPr/>
          <p:nvPr/>
        </p:nvSpPr>
        <p:spPr>
          <a:xfrm>
            <a:off x="8046720" y="4023360"/>
            <a:ext cx="3520440" cy="2011680"/>
          </a:xfrm>
          <a:prstGeom prst="roundRect">
            <a:avLst>
              <a:gd name="adj" fmla="val 8000"/>
            </a:avLst>
          </a:prstGeom>
          <a:solidFill>
            <a:srgbClr val="FCFCFB"/>
          </a:solidFill>
          <a:ln w="9525">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4206240"/>
            <a:ext cx="3108960" cy="1737360"/>
          </a:xfrm>
          <a:prstGeom prst="rect">
            <a:avLst/>
          </a:prstGeom>
          <a:noFill/>
        </p:spPr>
        <p:txBody>
          <a:bodyPr wrap="square" anchor="t" lIns="0" rIns="0">
            <a:spAutoFit/>
          </a:bodyPr>
          <a:lstStyle/>
          <a:p>
            <a:pPr algn="l">
              <a:spcAft>
                <a:spcPts val="600"/>
              </a:spcAft>
            </a:pPr>
            <a:r>
              <a:rPr sz="1100" b="1">
                <a:solidFill>
                  <a:srgbClr val="0B0B0B"/>
                </a:solidFill>
                <a:latin typeface="Segoe UI"/>
              </a:rPr>
              <a:t>Limits</a:t>
            </a:r>
          </a:p>
          <a:p>
            <a:pPr algn="l">
              <a:spcAft>
                <a:spcPts val="600"/>
              </a:spcAft>
            </a:pPr>
            <a:r>
              <a:rPr sz="1100" b="0">
                <a:solidFill>
                  <a:srgbClr val="52514E"/>
                </a:solidFill>
                <a:latin typeface="Segoe UI"/>
              </a:rPr>
              <a:t>Public 2016 data, 46-day window, no product holdings or revenue. Signals rank conversations; they are not eligibility decisions.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8229600" cy="365760"/>
          </a:xfrm>
          <a:prstGeom prst="rect">
            <a:avLst/>
          </a:prstGeom>
          <a:noFill/>
        </p:spPr>
        <p:txBody>
          <a:bodyPr wrap="square" anchor="t" lIns="0" rIns="0">
            <a:spAutoFit/>
          </a:bodyPr>
          <a:lstStyle/>
          <a:p>
            <a:pPr algn="l">
              <a:spcAft>
                <a:spcPts val="600"/>
              </a:spcAft>
            </a:pPr>
            <a:r>
              <a:rPr sz="1100" b="1">
                <a:solidFill>
                  <a:srgbClr val="2A78D6"/>
                </a:solidFill>
                <a:latin typeface="Segoe UI"/>
              </a:rPr>
              <a:t>08 · RECOMMENDED MANAGERIAL ACTIONS</a:t>
            </a:r>
          </a:p>
        </p:txBody>
      </p:sp>
      <p:sp>
        <p:nvSpPr>
          <p:cNvPr id="3" name="TextBox 2"/>
          <p:cNvSpPr txBox="1"/>
          <p:nvPr/>
        </p:nvSpPr>
        <p:spPr>
          <a:xfrm>
            <a:off x="548640" y="640080"/>
            <a:ext cx="11064240" cy="914400"/>
          </a:xfrm>
          <a:prstGeom prst="rect">
            <a:avLst/>
          </a:prstGeom>
          <a:noFill/>
        </p:spPr>
        <p:txBody>
          <a:bodyPr wrap="square" anchor="t" lIns="0" rIns="0">
            <a:spAutoFit/>
          </a:bodyPr>
          <a:lstStyle/>
          <a:p>
            <a:pPr algn="l">
              <a:spcAft>
                <a:spcPts val="600"/>
              </a:spcAft>
            </a:pPr>
            <a:r>
              <a:rPr sz="2600" b="1">
                <a:solidFill>
                  <a:srgbClr val="0B0B0B"/>
                </a:solidFill>
                <a:latin typeface="Segoe UI"/>
              </a:rPr>
              <a:t>Pilot with Tier A, measure response, refine the rules</a:t>
            </a:r>
          </a:p>
        </p:txBody>
      </p:sp>
      <p:cxnSp>
        <p:nvCxnSpPr>
          <p:cNvPr id="4" name="Connector 3"/>
          <p:cNvCxnSpPr/>
          <p:nvPr/>
        </p:nvCxnSpPr>
        <p:spPr>
          <a:xfrm>
            <a:off x="548640" y="6400800"/>
            <a:ext cx="1109167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46520"/>
            <a:ext cx="10058400" cy="274320"/>
          </a:xfrm>
          <a:prstGeom prst="rect">
            <a:avLst/>
          </a:prstGeom>
          <a:noFill/>
        </p:spPr>
        <p:txBody>
          <a:bodyPr wrap="square" anchor="t" lIns="0" rIns="0">
            <a:spAutoFit/>
          </a:bodyPr>
          <a:lstStyle/>
          <a:p>
            <a:pPr algn="l">
              <a:spcAft>
                <a:spcPts val="600"/>
              </a:spcAft>
            </a:pPr>
            <a:r>
              <a:rPr sz="800" b="0">
                <a:solidFill>
                  <a:srgbClr val="898781"/>
                </a:solidFill>
                <a:latin typeface="Segoe UI"/>
              </a:rPr>
              <a:t>Source: KavionLens360 pipeline on the public Kaggle 'Bank Customer Segmentation' dataset (Indian bank, 2016). Not ICICI data. Window 1 Aug - 15 Sep 2016.</a:t>
            </a:r>
          </a:p>
        </p:txBody>
      </p:sp>
      <p:sp>
        <p:nvSpPr>
          <p:cNvPr id="6" name="TextBox 5"/>
          <p:cNvSpPr txBox="1"/>
          <p:nvPr/>
        </p:nvSpPr>
        <p:spPr>
          <a:xfrm>
            <a:off x="11155680" y="6446520"/>
            <a:ext cx="502920" cy="274320"/>
          </a:xfrm>
          <a:prstGeom prst="rect">
            <a:avLst/>
          </a:prstGeom>
          <a:noFill/>
        </p:spPr>
        <p:txBody>
          <a:bodyPr wrap="square" anchor="t" lIns="0" rIns="0">
            <a:spAutoFit/>
          </a:bodyPr>
          <a:lstStyle/>
          <a:p>
            <a:pPr algn="r">
              <a:spcAft>
                <a:spcPts val="600"/>
              </a:spcAft>
            </a:pPr>
            <a:r>
              <a:rPr sz="800" b="0">
                <a:solidFill>
                  <a:srgbClr val="898781"/>
                </a:solidFill>
                <a:latin typeface="Segoe UI"/>
              </a:rPr>
              <a:t>8</a:t>
            </a:r>
          </a:p>
        </p:txBody>
      </p:sp>
      <p:graphicFrame>
        <p:nvGraphicFramePr>
          <p:cNvPr id="7" name="Table 6"/>
          <p:cNvGraphicFramePr>
            <a:graphicFrameLocks noGrp="1"/>
          </p:cNvGraphicFramePr>
          <p:nvPr/>
        </p:nvGraphicFramePr>
        <p:xfrm>
          <a:off x="548640" y="1737360"/>
          <a:ext cx="11064240" cy="3401568"/>
        </p:xfrm>
        <a:graphic>
          <a:graphicData uri="http://schemas.openxmlformats.org/drawingml/2006/table">
            <a:tbl>
              <a:tblPr firstRow="1" bandRow="1">
                <a:tableStyleId>{5C22544A-7EE6-4342-B048-85BDC9FD1C3A}</a:tableStyleId>
              </a:tblPr>
              <a:tblGrid>
                <a:gridCol w="2011680"/>
                <a:gridCol w="4023360"/>
                <a:gridCol w="1737360"/>
                <a:gridCol w="1371600"/>
                <a:gridCol w="1920240"/>
              </a:tblGrid>
              <a:tr h="566928">
                <a:tc>
                  <a:txBody>
                    <a:bodyPr wrap="square"/>
                    <a:lstStyle/>
                    <a:p>
                      <a:pPr algn="l"/>
                      <a:r>
                        <a:rPr sz="1000" b="1">
                          <a:solidFill>
                            <a:srgbClr val="52514E"/>
                          </a:solidFill>
                          <a:latin typeface="Segoe UI"/>
                        </a:rPr>
                        <a:t>Segment</a:t>
                      </a:r>
                    </a:p>
                  </a:txBody>
                  <a:tcPr marL="73152" marR="73152" marT="27432" marB="27432" anchor="ctr">
                    <a:solidFill>
                      <a:srgbClr val="F3F2EE"/>
                    </a:solidFill>
                  </a:tcPr>
                </a:tc>
                <a:tc>
                  <a:txBody>
                    <a:bodyPr wrap="square"/>
                    <a:lstStyle/>
                    <a:p>
                      <a:pPr algn="l"/>
                      <a:r>
                        <a:rPr sz="1000" b="1">
                          <a:solidFill>
                            <a:srgbClr val="52514E"/>
                          </a:solidFill>
                          <a:latin typeface="Segoe UI"/>
                        </a:rPr>
                        <a:t>Action</a:t>
                      </a:r>
                    </a:p>
                  </a:txBody>
                  <a:tcPr marL="73152" marR="73152" marT="27432" marB="27432" anchor="ctr">
                    <a:solidFill>
                      <a:srgbClr val="F3F2EE"/>
                    </a:solidFill>
                  </a:tcPr>
                </a:tc>
                <a:tc>
                  <a:txBody>
                    <a:bodyPr wrap="square"/>
                    <a:lstStyle/>
                    <a:p>
                      <a:pPr algn="l"/>
                      <a:r>
                        <a:rPr sz="1000" b="1">
                          <a:solidFill>
                            <a:srgbClr val="52514E"/>
                          </a:solidFill>
                          <a:latin typeface="Segoe UI"/>
                        </a:rPr>
                        <a:t>Owner</a:t>
                      </a:r>
                    </a:p>
                  </a:txBody>
                  <a:tcPr marL="73152" marR="73152" marT="27432" marB="27432" anchor="ctr">
                    <a:solidFill>
                      <a:srgbClr val="F3F2EE"/>
                    </a:solidFill>
                  </a:tcPr>
                </a:tc>
                <a:tc>
                  <a:txBody>
                    <a:bodyPr wrap="square"/>
                    <a:lstStyle/>
                    <a:p>
                      <a:pPr algn="l"/>
                      <a:r>
                        <a:rPr sz="1000" b="1">
                          <a:solidFill>
                            <a:srgbClr val="52514E"/>
                          </a:solidFill>
                          <a:latin typeface="Segoe UI"/>
                        </a:rPr>
                        <a:t>Timing</a:t>
                      </a:r>
                    </a:p>
                  </a:txBody>
                  <a:tcPr marL="73152" marR="73152" marT="27432" marB="27432" anchor="ctr">
                    <a:solidFill>
                      <a:srgbClr val="F3F2EE"/>
                    </a:solidFill>
                  </a:tcPr>
                </a:tc>
                <a:tc>
                  <a:txBody>
                    <a:bodyPr wrap="square"/>
                    <a:lstStyle/>
                    <a:p>
                      <a:pPr algn="l"/>
                      <a:r>
                        <a:rPr sz="1000" b="1">
                          <a:solidFill>
                            <a:srgbClr val="52514E"/>
                          </a:solidFill>
                          <a:latin typeface="Segoe UI"/>
                        </a:rPr>
                        <a:t>Success metric</a:t>
                      </a:r>
                    </a:p>
                  </a:txBody>
                  <a:tcPr marL="73152" marR="73152" marT="27432" marB="27432" anchor="ctr">
                    <a:solidFill>
                      <a:srgbClr val="F3F2EE"/>
                    </a:solidFill>
                  </a:tcPr>
                </a:tc>
              </a:tr>
              <a:tr h="566928">
                <a:tc>
                  <a:txBody>
                    <a:bodyPr wrap="square"/>
                    <a:lstStyle/>
                    <a:p>
                      <a:pPr algn="l"/>
                      <a:r>
                        <a:rPr sz="1000" b="1">
                          <a:solidFill>
                            <a:srgbClr val="2A78D6"/>
                          </a:solidFill>
                          <a:latin typeface="Segoe UI"/>
                        </a:rPr>
                        <a:t>Engaged Repeat Users</a:t>
                      </a:r>
                    </a:p>
                  </a:txBody>
                  <a:tcPr marL="73152" marR="73152" marT="27432" marB="27432" anchor="ctr">
                    <a:solidFill>
                      <a:srgbClr val="FCFCFB"/>
                    </a:solidFill>
                  </a:tcPr>
                </a:tc>
                <a:tc>
                  <a:txBody>
                    <a:bodyPr wrap="square"/>
                    <a:lstStyle/>
                    <a:p>
                      <a:pPr algn="l"/>
                      <a:r>
                        <a:rPr sz="1000" b="0">
                          <a:solidFill>
                            <a:srgbClr val="0B0B0B"/>
                          </a:solidFill>
                          <a:latin typeface="Segoe UI"/>
                        </a:rPr>
                        <a:t>Deepen the relationship: RM introduction call, needs review, bundle offer</a:t>
                      </a:r>
                    </a:p>
                  </a:txBody>
                  <a:tcPr marL="73152" marR="73152" marT="27432" marB="27432" anchor="ctr">
                    <a:solidFill>
                      <a:srgbClr val="FCFCFB"/>
                    </a:solidFill>
                  </a:tcPr>
                </a:tc>
                <a:tc>
                  <a:txBody>
                    <a:bodyPr wrap="square"/>
                    <a:lstStyle/>
                    <a:p>
                      <a:pPr algn="l"/>
                      <a:r>
                        <a:rPr sz="1000" b="0">
                          <a:solidFill>
                            <a:srgbClr val="0B0B0B"/>
                          </a:solidFill>
                          <a:latin typeface="Segoe UI"/>
                        </a:rPr>
                        <a:t>Relationship Manager</a:t>
                      </a:r>
                    </a:p>
                  </a:txBody>
                  <a:tcPr marL="73152" marR="73152" marT="27432" marB="27432" anchor="ctr">
                    <a:solidFill>
                      <a:srgbClr val="FCFCFB"/>
                    </a:solidFill>
                  </a:tcPr>
                </a:tc>
                <a:tc>
                  <a:txBody>
                    <a:bodyPr wrap="square"/>
                    <a:lstStyle/>
                    <a:p>
                      <a:pPr algn="l"/>
                      <a:r>
                        <a:rPr sz="1000" b="0">
                          <a:solidFill>
                            <a:srgbClr val="0B0B0B"/>
                          </a:solidFill>
                          <a:latin typeface="Segoe UI"/>
                        </a:rPr>
                        <a:t>Within 2 weeks</a:t>
                      </a:r>
                    </a:p>
                  </a:txBody>
                  <a:tcPr marL="73152" marR="73152" marT="27432" marB="27432" anchor="ctr">
                    <a:solidFill>
                      <a:srgbClr val="FCFCFB"/>
                    </a:solidFill>
                  </a:tcPr>
                </a:tc>
                <a:tc>
                  <a:txBody>
                    <a:bodyPr wrap="square"/>
                    <a:lstStyle/>
                    <a:p>
                      <a:pPr algn="l"/>
                      <a:r>
                        <a:rPr sz="1000" b="0">
                          <a:solidFill>
                            <a:srgbClr val="0B0B0B"/>
                          </a:solidFill>
                          <a:latin typeface="Segoe UI"/>
                        </a:rPr>
                        <a:t>Products discussed per contact; repeat activity next 30 days</a:t>
                      </a:r>
                    </a:p>
                  </a:txBody>
                  <a:tcPr marL="73152" marR="73152" marT="27432" marB="27432" anchor="ctr">
                    <a:solidFill>
                      <a:srgbClr val="FCFCFB"/>
                    </a:solidFill>
                  </a:tcPr>
                </a:tc>
              </a:tr>
              <a:tr h="566928">
                <a:tc>
                  <a:txBody>
                    <a:bodyPr wrap="square"/>
                    <a:lstStyle/>
                    <a:p>
                      <a:pPr algn="l"/>
                      <a:r>
                        <a:rPr sz="1000" b="1">
                          <a:solidFill>
                            <a:srgbClr val="EB6834"/>
                          </a:solidFill>
                          <a:latin typeface="Segoe UI"/>
                        </a:rPr>
                        <a:t>Recent One-Time Spenders</a:t>
                      </a:r>
                    </a:p>
                  </a:txBody>
                  <a:tcPr marL="73152" marR="73152" marT="27432" marB="27432" anchor="ctr">
                    <a:solidFill>
                      <a:srgbClr val="FCFCFB"/>
                    </a:solidFill>
                  </a:tcPr>
                </a:tc>
                <a:tc>
                  <a:txBody>
                    <a:bodyPr wrap="square"/>
                    <a:lstStyle/>
                    <a:p>
                      <a:pPr algn="l"/>
                      <a:r>
                        <a:rPr sz="1000" b="0">
                          <a:solidFill>
                            <a:srgbClr val="0B0B0B"/>
                          </a:solidFill>
                          <a:latin typeface="Segoe UI"/>
                        </a:rPr>
                        <a:t>Convert to repeat use: welcome-back nudge and digital activation while the visit is recent</a:t>
                      </a:r>
                    </a:p>
                  </a:txBody>
                  <a:tcPr marL="73152" marR="73152" marT="27432" marB="27432" anchor="ctr">
                    <a:solidFill>
                      <a:srgbClr val="FCFCFB"/>
                    </a:solidFill>
                  </a:tcPr>
                </a:tc>
                <a:tc>
                  <a:txBody>
                    <a:bodyPr wrap="square"/>
                    <a:lstStyle/>
                    <a:p>
                      <a:pPr algn="l"/>
                      <a:r>
                        <a:rPr sz="1000" b="0">
                          <a:solidFill>
                            <a:srgbClr val="0B0B0B"/>
                          </a:solidFill>
                          <a:latin typeface="Segoe UI"/>
                        </a:rPr>
                        <a:t>Branch / Digital team</a:t>
                      </a:r>
                    </a:p>
                  </a:txBody>
                  <a:tcPr marL="73152" marR="73152" marT="27432" marB="27432" anchor="ctr">
                    <a:solidFill>
                      <a:srgbClr val="FCFCFB"/>
                    </a:solidFill>
                  </a:tcPr>
                </a:tc>
                <a:tc>
                  <a:txBody>
                    <a:bodyPr wrap="square"/>
                    <a:lstStyle/>
                    <a:p>
                      <a:pPr algn="l"/>
                      <a:r>
                        <a:rPr sz="1000" b="0">
                          <a:solidFill>
                            <a:srgbClr val="0B0B0B"/>
                          </a:solidFill>
                          <a:latin typeface="Segoe UI"/>
                        </a:rPr>
                        <a:t>Within 7 days of the transaction</a:t>
                      </a:r>
                    </a:p>
                  </a:txBody>
                  <a:tcPr marL="73152" marR="73152" marT="27432" marB="27432" anchor="ctr">
                    <a:solidFill>
                      <a:srgbClr val="FCFCFB"/>
                    </a:solidFill>
                  </a:tcPr>
                </a:tc>
                <a:tc>
                  <a:txBody>
                    <a:bodyPr wrap="square"/>
                    <a:lstStyle/>
                    <a:p>
                      <a:pPr algn="l"/>
                      <a:r>
                        <a:rPr sz="1000" b="0">
                          <a:solidFill>
                            <a:srgbClr val="0B0B0B"/>
                          </a:solidFill>
                          <a:latin typeface="Segoe UI"/>
                        </a:rPr>
                        <a:t>Second transaction within 30 days</a:t>
                      </a:r>
                    </a:p>
                  </a:txBody>
                  <a:tcPr marL="73152" marR="73152" marT="27432" marB="27432" anchor="ctr">
                    <a:solidFill>
                      <a:srgbClr val="FCFCFB"/>
                    </a:solidFill>
                  </a:tcPr>
                </a:tc>
              </a:tr>
              <a:tr h="566928">
                <a:tc>
                  <a:txBody>
                    <a:bodyPr wrap="square"/>
                    <a:lstStyle/>
                    <a:p>
                      <a:pPr algn="l"/>
                      <a:r>
                        <a:rPr sz="1000" b="1">
                          <a:solidFill>
                            <a:srgbClr val="1BAF7A"/>
                          </a:solidFill>
                          <a:latin typeface="Segoe UI"/>
                        </a:rPr>
                        <a:t>Lapsed One-Time Spenders</a:t>
                      </a:r>
                    </a:p>
                  </a:txBody>
                  <a:tcPr marL="73152" marR="73152" marT="27432" marB="27432" anchor="ctr">
                    <a:solidFill>
                      <a:srgbClr val="FCFCFB"/>
                    </a:solidFill>
                  </a:tcPr>
                </a:tc>
                <a:tc>
                  <a:txBody>
                    <a:bodyPr wrap="square"/>
                    <a:lstStyle/>
                    <a:p>
                      <a:pPr algn="l"/>
                      <a:r>
                        <a:rPr sz="1000" b="0">
                          <a:solidFill>
                            <a:srgbClr val="0B0B0B"/>
                          </a:solidFill>
                          <a:latin typeface="Segoe UI"/>
                        </a:rPr>
                        <a:t>Win-back: service call or message to understand needs; offer relevant product review</a:t>
                      </a:r>
                    </a:p>
                  </a:txBody>
                  <a:tcPr marL="73152" marR="73152" marT="27432" marB="27432" anchor="ctr">
                    <a:solidFill>
                      <a:srgbClr val="FCFCFB"/>
                    </a:solidFill>
                  </a:tcPr>
                </a:tc>
                <a:tc>
                  <a:txBody>
                    <a:bodyPr wrap="square"/>
                    <a:lstStyle/>
                    <a:p>
                      <a:pPr algn="l"/>
                      <a:r>
                        <a:rPr sz="1000" b="0">
                          <a:solidFill>
                            <a:srgbClr val="0B0B0B"/>
                          </a:solidFill>
                          <a:latin typeface="Segoe UI"/>
                        </a:rPr>
                        <a:t>Relationship Manager / Contact centre</a:t>
                      </a:r>
                    </a:p>
                  </a:txBody>
                  <a:tcPr marL="73152" marR="73152" marT="27432" marB="27432" anchor="ctr">
                    <a:solidFill>
                      <a:srgbClr val="FCFCFB"/>
                    </a:solidFill>
                  </a:tcPr>
                </a:tc>
                <a:tc>
                  <a:txBody>
                    <a:bodyPr wrap="square"/>
                    <a:lstStyle/>
                    <a:p>
                      <a:pPr algn="l"/>
                      <a:r>
                        <a:rPr sz="1000" b="0">
                          <a:solidFill>
                            <a:srgbClr val="0B0B0B"/>
                          </a:solidFill>
                          <a:latin typeface="Segoe UI"/>
                        </a:rPr>
                        <a:t>This month</a:t>
                      </a:r>
                    </a:p>
                  </a:txBody>
                  <a:tcPr marL="73152" marR="73152" marT="27432" marB="27432" anchor="ctr">
                    <a:solidFill>
                      <a:srgbClr val="FCFCFB"/>
                    </a:solidFill>
                  </a:tcPr>
                </a:tc>
                <a:tc>
                  <a:txBody>
                    <a:bodyPr wrap="square"/>
                    <a:lstStyle/>
                    <a:p>
                      <a:pPr algn="l"/>
                      <a:r>
                        <a:rPr sz="1000" b="0">
                          <a:solidFill>
                            <a:srgbClr val="0B0B0B"/>
                          </a:solidFill>
                          <a:latin typeface="Segoe UI"/>
                        </a:rPr>
                        <a:t>Share re-activated within 30 days</a:t>
                      </a:r>
                    </a:p>
                  </a:txBody>
                  <a:tcPr marL="73152" marR="73152" marT="27432" marB="27432" anchor="ctr">
                    <a:solidFill>
                      <a:srgbClr val="FCFCFB"/>
                    </a:solidFill>
                  </a:tcPr>
                </a:tc>
              </a:tr>
              <a:tr h="566928">
                <a:tc>
                  <a:txBody>
                    <a:bodyPr wrap="square"/>
                    <a:lstStyle/>
                    <a:p>
                      <a:pPr algn="l"/>
                      <a:r>
                        <a:rPr sz="1000" b="1">
                          <a:solidFill>
                            <a:srgbClr val="EDA100"/>
                          </a:solidFill>
                          <a:latin typeface="Segoe UI"/>
                        </a:rPr>
                        <a:t>Low-Ticket Occasional</a:t>
                      </a:r>
                    </a:p>
                  </a:txBody>
                  <a:tcPr marL="73152" marR="73152" marT="27432" marB="27432" anchor="ctr">
                    <a:solidFill>
                      <a:srgbClr val="FCFCFB"/>
                    </a:solidFill>
                  </a:tcPr>
                </a:tc>
                <a:tc>
                  <a:txBody>
                    <a:bodyPr wrap="square"/>
                    <a:lstStyle/>
                    <a:p>
                      <a:pPr algn="l"/>
                      <a:r>
                        <a:rPr sz="1000" b="0">
                          <a:solidFill>
                            <a:srgbClr val="0B0B0B"/>
                          </a:solidFill>
                          <a:latin typeface="Segoe UI"/>
                        </a:rPr>
                        <a:t>Low-cost digital nurture only; no RM time</a:t>
                      </a:r>
                    </a:p>
                  </a:txBody>
                  <a:tcPr marL="73152" marR="73152" marT="27432" marB="27432" anchor="ctr">
                    <a:solidFill>
                      <a:srgbClr val="FCFCFB"/>
                    </a:solidFill>
                  </a:tcPr>
                </a:tc>
                <a:tc>
                  <a:txBody>
                    <a:bodyPr wrap="square"/>
                    <a:lstStyle/>
                    <a:p>
                      <a:pPr algn="l"/>
                      <a:r>
                        <a:rPr sz="1000" b="0">
                          <a:solidFill>
                            <a:srgbClr val="0B0B0B"/>
                          </a:solidFill>
                          <a:latin typeface="Segoe UI"/>
                        </a:rPr>
                        <a:t>Digital marketing</a:t>
                      </a:r>
                    </a:p>
                  </a:txBody>
                  <a:tcPr marL="73152" marR="73152" marT="27432" marB="27432" anchor="ctr">
                    <a:solidFill>
                      <a:srgbClr val="FCFCFB"/>
                    </a:solidFill>
                  </a:tcPr>
                </a:tc>
                <a:tc>
                  <a:txBody>
                    <a:bodyPr wrap="square"/>
                    <a:lstStyle/>
                    <a:p>
                      <a:pPr algn="l"/>
                      <a:r>
                        <a:rPr sz="1000" b="0">
                          <a:solidFill>
                            <a:srgbClr val="0B0B0B"/>
                          </a:solidFill>
                          <a:latin typeface="Segoe UI"/>
                        </a:rPr>
                        <a:t>Automated</a:t>
                      </a:r>
                    </a:p>
                  </a:txBody>
                  <a:tcPr marL="73152" marR="73152" marT="27432" marB="27432" anchor="ctr">
                    <a:solidFill>
                      <a:srgbClr val="FCFCFB"/>
                    </a:solidFill>
                  </a:tcPr>
                </a:tc>
                <a:tc>
                  <a:txBody>
                    <a:bodyPr wrap="square"/>
                    <a:lstStyle/>
                    <a:p>
                      <a:pPr algn="l"/>
                      <a:r>
                        <a:rPr sz="1000" b="0">
                          <a:solidFill>
                            <a:srgbClr val="0B0B0B"/>
                          </a:solidFill>
                          <a:latin typeface="Segoe UI"/>
                        </a:rPr>
                        <a:t>Digital engagement rate; cost per contact</a:t>
                      </a:r>
                    </a:p>
                  </a:txBody>
                  <a:tcPr marL="73152" marR="73152" marT="27432" marB="27432" anchor="ctr">
                    <a:solidFill>
                      <a:srgbClr val="FCFCFB"/>
                    </a:solidFill>
                  </a:tcPr>
                </a:tc>
              </a:tr>
              <a:tr h="566928">
                <a:tc>
                  <a:txBody>
                    <a:bodyPr wrap="square"/>
                    <a:lstStyle/>
                    <a:p>
                      <a:pPr algn="l"/>
                      <a:r>
                        <a:rPr sz="1000" b="1">
                          <a:solidFill>
                            <a:srgbClr val="E87BA4"/>
                          </a:solidFill>
                          <a:latin typeface="Segoe UI"/>
                        </a:rPr>
                        <a:t>Near-Zero Balance</a:t>
                      </a:r>
                    </a:p>
                  </a:txBody>
                  <a:tcPr marL="73152" marR="73152" marT="27432" marB="27432" anchor="ctr">
                    <a:solidFill>
                      <a:srgbClr val="FCFCFB"/>
                    </a:solidFill>
                  </a:tcPr>
                </a:tc>
                <a:tc>
                  <a:txBody>
                    <a:bodyPr wrap="square"/>
                    <a:lstStyle/>
                    <a:p>
                      <a:pPr algn="l"/>
                      <a:r>
                        <a:rPr sz="1000" b="0">
                          <a:solidFill>
                            <a:srgbClr val="0B0B0B"/>
                          </a:solidFill>
                          <a:latin typeface="Segoe UI"/>
                        </a:rPr>
                        <a:t>Service check and activation; exclude from cross-sell lists</a:t>
                      </a:r>
                    </a:p>
                  </a:txBody>
                  <a:tcPr marL="73152" marR="73152" marT="27432" marB="27432" anchor="ctr">
                    <a:solidFill>
                      <a:srgbClr val="FCFCFB"/>
                    </a:solidFill>
                  </a:tcPr>
                </a:tc>
                <a:tc>
                  <a:txBody>
                    <a:bodyPr wrap="square"/>
                    <a:lstStyle/>
                    <a:p>
                      <a:pPr algn="l"/>
                      <a:r>
                        <a:rPr sz="1000" b="0">
                          <a:solidFill>
                            <a:srgbClr val="0B0B0B"/>
                          </a:solidFill>
                          <a:latin typeface="Segoe UI"/>
                        </a:rPr>
                        <a:t>Branch operations</a:t>
                      </a:r>
                    </a:p>
                  </a:txBody>
                  <a:tcPr marL="73152" marR="73152" marT="27432" marB="27432" anchor="ctr">
                    <a:solidFill>
                      <a:srgbClr val="FCFCFB"/>
                    </a:solidFill>
                  </a:tcPr>
                </a:tc>
                <a:tc>
                  <a:txBody>
                    <a:bodyPr wrap="square"/>
                    <a:lstStyle/>
                    <a:p>
                      <a:pPr algn="l"/>
                      <a:r>
                        <a:rPr sz="1000" b="0">
                          <a:solidFill>
                            <a:srgbClr val="0B0B0B"/>
                          </a:solidFill>
                          <a:latin typeface="Segoe UI"/>
                        </a:rPr>
                        <a:t>Quarterly review</a:t>
                      </a:r>
                    </a:p>
                  </a:txBody>
                  <a:tcPr marL="73152" marR="73152" marT="27432" marB="27432" anchor="ctr">
                    <a:solidFill>
                      <a:srgbClr val="FCFCFB"/>
                    </a:solidFill>
                  </a:tcPr>
                </a:tc>
                <a:tc>
                  <a:txBody>
                    <a:bodyPr wrap="square"/>
                    <a:lstStyle/>
                    <a:p>
                      <a:pPr algn="l"/>
                      <a:r>
                        <a:rPr sz="1000" b="0">
                          <a:solidFill>
                            <a:srgbClr val="0B0B0B"/>
                          </a:solidFill>
                          <a:latin typeface="Segoe UI"/>
                        </a:rPr>
                        <a:t>Share with balance above Rs 1,000 next quarter</a:t>
                      </a:r>
                    </a:p>
                  </a:txBody>
                  <a:tcPr marL="73152" marR="73152" marT="27432" marB="27432" anchor="ctr">
                    <a:solidFill>
                      <a:srgbClr val="FCFCFB"/>
                    </a:solidFill>
                  </a:tcPr>
                </a:tc>
              </a:tr>
            </a:tbl>
          </a:graphicData>
        </a:graphic>
      </p:graphicFrame>
      <p:sp>
        <p:nvSpPr>
          <p:cNvPr id="8" name="Rounded Rectangle 7"/>
          <p:cNvSpPr/>
          <p:nvPr/>
        </p:nvSpPr>
        <p:spPr>
          <a:xfrm>
            <a:off x="548640" y="5440680"/>
            <a:ext cx="3520440" cy="68580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3200400" cy="548640"/>
          </a:xfrm>
          <a:prstGeom prst="rect">
            <a:avLst/>
          </a:prstGeom>
          <a:noFill/>
        </p:spPr>
        <p:txBody>
          <a:bodyPr wrap="square" anchor="ctr" lIns="0" rIns="0">
            <a:spAutoFit/>
          </a:bodyPr>
          <a:lstStyle/>
          <a:p>
            <a:pPr algn="l">
              <a:spcAft>
                <a:spcPts val="600"/>
              </a:spcAft>
            </a:pPr>
            <a:r>
              <a:rPr sz="1200" b="1">
                <a:solidFill>
                  <a:srgbClr val="0B0B0B"/>
                </a:solidFill>
                <a:latin typeface="Segoe UI"/>
              </a:rPr>
              <a:t>Weeks 1-4: call Tier A (top 5%), log outcomes</a:t>
            </a:r>
          </a:p>
        </p:txBody>
      </p:sp>
      <p:sp>
        <p:nvSpPr>
          <p:cNvPr id="10" name="Rounded Rectangle 9"/>
          <p:cNvSpPr/>
          <p:nvPr/>
        </p:nvSpPr>
        <p:spPr>
          <a:xfrm>
            <a:off x="4297679" y="5440680"/>
            <a:ext cx="3520440" cy="68580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5559552"/>
            <a:ext cx="3200400" cy="548640"/>
          </a:xfrm>
          <a:prstGeom prst="rect">
            <a:avLst/>
          </a:prstGeom>
          <a:noFill/>
        </p:spPr>
        <p:txBody>
          <a:bodyPr wrap="square" anchor="ctr" lIns="0" rIns="0">
            <a:spAutoFit/>
          </a:bodyPr>
          <a:lstStyle/>
          <a:p>
            <a:pPr algn="l">
              <a:spcAft>
                <a:spcPts val="600"/>
              </a:spcAft>
            </a:pPr>
            <a:r>
              <a:rPr sz="1200" b="1">
                <a:solidFill>
                  <a:srgbClr val="0B0B0B"/>
                </a:solidFill>
                <a:latin typeface="Segoe UI"/>
              </a:rPr>
              <a:t>Week 5: compare response by segment and theme</a:t>
            </a:r>
          </a:p>
        </p:txBody>
      </p:sp>
      <p:sp>
        <p:nvSpPr>
          <p:cNvPr id="12" name="Rounded Rectangle 11"/>
          <p:cNvSpPr/>
          <p:nvPr/>
        </p:nvSpPr>
        <p:spPr>
          <a:xfrm>
            <a:off x="8046719" y="5440680"/>
            <a:ext cx="3520440" cy="685800"/>
          </a:xfrm>
          <a:prstGeom prst="roundRect">
            <a:avLst>
              <a:gd name="adj" fmla="val 8000"/>
            </a:avLst>
          </a:prstGeom>
          <a:solidFill>
            <a:srgbClr val="F3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9" y="5559552"/>
            <a:ext cx="3200400" cy="548640"/>
          </a:xfrm>
          <a:prstGeom prst="rect">
            <a:avLst/>
          </a:prstGeom>
          <a:noFill/>
        </p:spPr>
        <p:txBody>
          <a:bodyPr wrap="square" anchor="ctr" lIns="0" rIns="0">
            <a:spAutoFit/>
          </a:bodyPr>
          <a:lstStyle/>
          <a:p>
            <a:pPr algn="l">
              <a:spcAft>
                <a:spcPts val="600"/>
              </a:spcAft>
            </a:pPr>
            <a:r>
              <a:rPr sz="1200" b="1">
                <a:solidFill>
                  <a:srgbClr val="0B0B0B"/>
                </a:solidFill>
                <a:latin typeface="Segoe UI"/>
              </a:rPr>
              <a:t>Then: tighten card / insurance rules, learn weights from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